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d645832-e11f-4bce-ac13-11fbc4573e64}">
          <p14:sldIdLst>
            <p14:sldId id="256"/>
            <p14:sldId id="257"/>
          </p14:sldIdLst>
        </p14:section>
        <p14:section name="The formulation" id="{8b69ce0c-e63d-c1d3-0e07-7b80662b3649}">
          <p14:sldIdLst>
            <p14:sldId id="258"/>
            <p14:sldId id="259"/>
          </p14:sldIdLst>
        </p14:section>
        <p14:section name="What was built" id="{1168c34a-b2dc-92e9-f9f2-3ce764e2af21}">
          <p14:sldIdLst>
            <p14:sldId id="260"/>
            <p14:sldId id="261"/>
          </p14:sldIdLst>
        </p14:section>
        <p14:section name="Findings" id="{b375f9bd-57c1-0ca3-ec2d-6f98fe4f274c}">
          <p14:sldIdLst>
            <p14:sldId id="262"/>
            <p14:sldId id="263"/>
            <p14:sldId id="264"/>
            <p14:sldId id="265"/>
          </p14:sldIdLst>
        </p14:section>
        <p14:section name="Design and validation" id="{0d876051-f5a9-df61-3679-3c36d136f0a0}">
          <p14:sldIdLst>
            <p14:sldId id="266"/>
            <p14:sldId id="267"/>
            <p14:sldId id="268"/>
            <p14:sldId id="269"/>
            <p14:sldId id="270"/>
            <p14:sldId id="271"/>
          </p14:sldIdLst>
        </p14:section>
        <p14:section name="Next steps" id="{1eba9e0c-178e-9441-d1d9-aa7b77a5f78a}">
          <p14:sldIdLst>
            <p14:sldId id="272"/>
            <p14:sldId id="273"/>
          </p14:sldIdLst>
        </p14:section>
        <p14:section name="Backup" id="{949907f4-2674-60a0-4aba-892d6df1ea06}">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D3A"/>
                </a:solidFill>
                <a:latin typeface="+mn-lt"/>
              </a:defRPr>
            </a:pPr>
            <a:r>
              <a:rPr sz="1200" b="0" i="0" u="none" strike="noStrike">
                <a:solidFill>
                  <a:srgbClr val="0B1D3A"/>
                </a:solidFill>
                <a:latin typeface="+mn-lt"/>
              </a:rPr>
              <a:t>Accuracy against the certified optimum</a:t>
            </a:r>
          </a:p>
        </c:rich>
      </c:tx>
      <c:layout/>
      <c:overlay val="0"/>
    </c:title>
    <c:autoTitleDeleted val="0"/>
    <c:plotArea>
      <c:layout/>
      <c:barChart>
        <c:barDir val="col"/>
        <c:grouping val="clustered"/>
        <c:varyColors val="0"/>
        <c:ser>
          <c:idx val="0"/>
          <c:order val="0"/>
          <c:tx>
            <c:strRef>
              <c:f>Sheet1!$B$1</c:f>
              <c:strCache>
                <c:ptCount val="1"/>
                <c:pt idx="0">
                  <c:v>QUBO annealing</c:v>
                </c:pt>
              </c:strCache>
            </c:strRef>
          </c:tx>
          <c:spPr>
            <a:solidFill>
              <a:srgbClr val="F2A541"/>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16 pads, pick 6</c:v>
                  </c:pt>
                  <c:pt idx="1">
                    <c:v>24 pads, pick 8</c:v>
                  </c:pt>
                  <c:pt idx="2">
                    <c:v>40 pads, pick 10</c:v>
                  </c:pt>
                </c:lvl>
              </c:multiLvlStrCache>
            </c:multiLvlStrRef>
          </c:cat>
          <c:val>
            <c:numRef>
              <c:f>Sheet1!$B$2:$B$4</c:f>
              <c:numCache>
                <c:formatCode>General</c:formatCode>
                <c:ptCount val="3"/>
                <c:pt idx="0">
                  <c:v>90.8</c:v>
                </c:pt>
                <c:pt idx="1">
                  <c:v>92</c:v>
                </c:pt>
                <c:pt idx="2">
                  <c:v>85.9</c:v>
                </c:pt>
              </c:numCache>
            </c:numRef>
          </c:val>
        </c:ser>
        <c:ser>
          <c:idx val="1"/>
          <c:order val="1"/>
          <c:tx>
            <c:strRef>
              <c:f>Sheet1!$C$1</c:f>
              <c:strCache>
                <c:ptCount val="1"/>
                <c:pt idx="0">
                  <c:v>Direct classical search</c:v>
                </c:pt>
              </c:strCache>
            </c:strRef>
          </c:tx>
          <c:spPr>
            <a:solidFill>
              <a:srgbClr val="2A9D8F"/>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16 pads, pick 6</c:v>
                  </c:pt>
                  <c:pt idx="1">
                    <c:v>24 pads, pick 8</c:v>
                  </c:pt>
                  <c:pt idx="2">
                    <c:v>40 pads, pick 10</c:v>
                  </c:pt>
                </c:lvl>
              </c:multiLvlStrCache>
            </c:multiLvlStrRef>
          </c:cat>
          <c:val>
            <c:numRef>
              <c:f>Sheet1!$C$2:$C$4</c:f>
              <c:numCache>
                <c:formatCode>General</c:formatCode>
                <c:ptCount val="3"/>
                <c:pt idx="0">
                  <c:v>97.7</c:v>
                </c:pt>
                <c:pt idx="1">
                  <c:v>98.8</c:v>
                </c:pt>
                <c:pt idx="2">
                  <c:v>98</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6350" cap="flat">
              <a:solidFill>
                <a:srgbClr val="E1E6EE"/>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 of proven optimum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D3A"/>
                </a:solidFill>
                <a:latin typeface="+mn-lt"/>
              </a:defRPr>
            </a:pPr>
            <a:r>
              <a:rPr sz="1200" b="0" i="0" u="none" strike="noStrike">
                <a:solidFill>
                  <a:srgbClr val="0B1D3A"/>
                </a:solidFill>
                <a:latin typeface="+mn-lt"/>
              </a:rPr>
              <a:t>Variance in UV coverage</a:t>
            </a:r>
          </a:p>
        </c:rich>
      </c:tx>
      <c:layout/>
      <c:overlay val="0"/>
    </c:title>
    <c:autoTitleDeleted val="0"/>
    <c:plotArea>
      <c:layout/>
      <c:doughnutChart>
        <c:varyColors val="1"/>
        <c:ser>
          <c:idx val="0"/>
          <c:order val="0"/>
          <c:tx>
            <c:strRef>
              <c:f>Sheet1!$B$1</c:f>
              <c:strCache>
                <c:ptCount val="1"/>
                <c:pt idx="0">
                  <c:v>Share of variance</c:v>
                </c:pt>
              </c:strCache>
            </c:strRef>
          </c:tx>
          <c:spPr>
            <a:solidFill>
              <a:schemeClr val="accent1"/>
            </a:solidFill>
            <a:ln w="9525" cap="flat">
              <a:solidFill>
                <a:srgbClr val="F9F9F9"/>
              </a:solidFill>
              <a:prstDash val="solid"/>
              <a:round/>
            </a:ln>
            <a:effectLst/>
          </c:spPr>
          <c:dPt>
            <c:idx val="0"/>
            <c:bubble3D val="0"/>
            <c:spPr>
              <a:solidFill>
                <a:srgbClr val="0B1D3A"/>
              </a:solidFill>
              <a:effectLst/>
            </c:spPr>
          </c:dPt>
          <c:dPt>
            <c:idx val="1"/>
            <c:bubble3D val="0"/>
            <c:spPr>
              <a:solidFill>
                <a:srgbClr val="F2A541"/>
              </a:solidFill>
              <a:effectLst/>
            </c:spPr>
          </c:dPt>
          <c:dPt>
            <c:idx val="2"/>
            <c:bubble3D val="0"/>
            <c:spPr>
              <a:solidFill>
                <a:srgbClr val="2A9D8F"/>
              </a:solidFill>
              <a:effectLst/>
            </c:spPr>
          </c:dPt>
          <c:dPt>
            <c:idx val="3"/>
            <c:bubble3D val="0"/>
            <c:spPr>
              <a:solidFill>
                <a:srgbClr val="C9D2DE"/>
              </a:solidFill>
              <a:effectLst/>
            </c:spPr>
          </c:dPt>
          <c:dLbls>
            <c:dLbl>
              <c:idx val="0"/>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Radial law  84.6%</c:v>
                </c:pt>
                <c:pt idx="1">
                  <c:v>Angular law  11.2%</c:v>
                </c:pt>
                <c:pt idx="2">
                  <c:v>Interaction  3.5%</c:v>
                </c:pt>
                <c:pt idx="3">
                  <c:v>Noise  0.7%</c:v>
                </c:pt>
              </c:strCache>
            </c:strRef>
          </c:cat>
          <c:val>
            <c:numRef>
              <c:f>Sheet1!$B$2:$B$5</c:f>
              <c:numCache>
                <c:ptCount val="4"/>
                <c:pt idx="0">
                  <c:v>84.6</c:v>
                </c:pt>
                <c:pt idx="1">
                  <c:v>11.2</c:v>
                </c:pt>
                <c:pt idx="2">
                  <c:v>3.5</c:v>
                </c:pt>
                <c:pt idx="3">
                  <c:v>0.7</c:v>
                </c:pt>
              </c:numCache>
            </c:numRef>
          </c:val>
        </c:ser>
        <c:firstSliceAng val="0"/>
        <c:holeSize val="55"/>
      </c:doughnutChart>
      <c:spPr>
        <a:noFill/>
        <a:ln>
          <a:noFill/>
        </a:ln>
        <a:effectLst/>
      </c:spPr>
    </c:plotArea>
    <c:legend>
      <c:legendPos val="r"/>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time PWV &lt; 1 mm</c:v>
                </c:pt>
              </c:strCache>
            </c:strRef>
          </c:tx>
          <c:spPr>
            <a:solidFill>
              <a:srgbClr val="0B1D3A"/>
            </a:solidFill>
            <a:effectLst/>
          </c:spPr>
          <c:invertIfNegative val="0"/>
          <c:dLbls>
            <c:numFmt formatCode="0&quot;%&quot;"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0B1D3A"/>
              </a:solidFill>
              <a:effectLst/>
            </c:spPr>
          </c:dPt>
          <c:dPt>
            <c:idx val="1"/>
            <c:invertIfNegative val="0"/>
            <c:bubble3D val="0"/>
            <c:spPr>
              <a:solidFill>
                <a:srgbClr val="2A9D8F"/>
              </a:solidFill>
              <a:effectLst/>
            </c:spPr>
          </c:dPt>
          <c:dPt>
            <c:idx val="2"/>
            <c:invertIfNegative val="0"/>
            <c:bubble3D val="0"/>
            <c:spPr>
              <a:solidFill>
                <a:srgbClr val="2A9D8F"/>
              </a:solidFill>
              <a:effectLst/>
            </c:spPr>
          </c:dPt>
          <c:dPt>
            <c:idx val="3"/>
            <c:invertIfNegative val="0"/>
            <c:bubble3D val="0"/>
            <c:spPr>
              <a:solidFill>
                <a:srgbClr val="F2A541"/>
              </a:solidFill>
              <a:effectLst/>
            </c:spPr>
          </c:dPt>
          <c:dPt>
            <c:idx val="4"/>
            <c:invertIfNegative val="0"/>
            <c:bubble3D val="0"/>
            <c:spPr>
              <a:solidFill>
                <a:srgbClr val="C8553D"/>
              </a:solidFill>
              <a:effectLst/>
            </c:spPr>
          </c:dPt>
          <c:cat>
            <c:multiLvlStrRef>
              <c:f>Sheet1!$A$2:$A$6</c:f>
              <c:multiLvlStrCache>
                <c:ptCount val="5"/>
                <c:lvl>
                  <c:pt idx="0">
                    <c:v>ALMA, Chajnantor</c:v>
                  </c:pt>
                  <c:pt idx="1">
                    <c:v>Ladakh site A</c:v>
                  </c:pt>
                  <c:pt idx="2">
                    <c:v>Ladakh site B</c:v>
                  </c:pt>
                  <c:pt idx="3">
                    <c:v>Merak</c:v>
                  </c:pt>
                  <c:pt idx="4">
                    <c:v>Hanle</c:v>
                  </c:pt>
                </c:lvl>
              </c:multiLvlStrCache>
            </c:multiLvlStrRef>
          </c:cat>
          <c:val>
            <c:numRef>
              <c:f>Sheet1!$B$2:$B$6</c:f>
              <c:numCache>
                <c:formatCode>General</c:formatCode>
                <c:ptCount val="5"/>
                <c:pt idx="0">
                  <c:v>50</c:v>
                </c:pt>
                <c:pt idx="1">
                  <c:v>23</c:v>
                </c:pt>
                <c:pt idx="2">
                  <c:v>19</c:v>
                </c:pt>
                <c:pt idx="3">
                  <c:v>8</c:v>
                </c:pt>
                <c:pt idx="4">
                  <c:v>5</c:v>
                </c:pt>
              </c:numCache>
            </c:numRef>
          </c:val>
        </c:ser>
        <c:dLbls>
          <c:numFmt formatCode="0&quot;%&quot;"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I will cover three things: what you asked for and where it is, what I built around it so it could be tested, and three results that change the plan. Two of them are not what we expected. Everything is in the repository and every number comes from a script you can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was to formulate the objective so it can be written as a QUBO and handed to a quantum annealer. That is done: derivation, implementation and write-up. Doing it carefully turned up two things about the onboarding note,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 says minimising UV overlap minimises sidelobes. That is true but not obvious. Through Parseval's theorem the dirty-beam energy equals the sum of squared sample counts per UV cell, so they are literally the same quantity. Checked numerically: ratio one to twelve decimal places. Source: src/thz_opt/qubo/baseline_qubo.py, sidelobe_energy_terms.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contribution. Whether two baselines overlap depends on four antennas; Q_ij can reference only two, so the objective is fourth order, not a QUBO. The fix: a variable per antenna pair saying whether that baseline is active, forced to equal the product of the two pad variables by a Rosenberg penalty. The penalty weights are derived, not guessed, and a test shows the constraint breaks below them. The cost is more variables: about fifteen thousand for the full ALMA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results is invented. Each input is checked against something published. The VLA check proves the coordinate transformation, not just the file. The atmosphere memo publishes its own scaling factors and our implementation reproduces them to three decimals. Source: data/external/SOURCES.md.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could score a layout but not search for one, so the first job was optimisers, and an exact solver that returns a proven optimum with a certificate. That gives every other method something to be measured against. The rest followed from asking how we would know if each step is right. 272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questions: is the formulation right, and does the solver work? For a small instance you can check exhaustively: all 2,324 legal ways to choose 6 of 16 real pads. What the QUBO thinks is best is what is actually best. Formulation gap zero. Source: experiments/12_qubo_solver.py.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uncomfortable result. The QUBO ran through dwave-samplers, the same interface a real D-Wave machine uses. Annealing reaches 86 to 92 percent of the proven optimum; plain greedy plus swaps reaches 98 percent in under half a second. Every annealing sample was feasible, so the formulation works; converting and annealing is simply worse here. A quantum result must beat a 0.35 second classical method already within 2 percent of 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golden spiral changes radius and angle together, so a ranking cannot say which matters. Separated with a factorial design and variance decomposition: radial distribution explains 85 percent, angle 11. The golden angle beats a deliberately bad 5-bearing angle by 2.5 percent. Caveat: sidelobes behave differently, with a large interaction. Source: experiments/16_factorial_layout.py.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 framing: this is about framing, not the site. Against the note's own threshold Hanle qualifies about 5 percent of the time and Chajnantor about 50, an order of magnitude. Hanle still has road, power and the flattest ground. Argue it as infrastructure against dryness with numbers stated; if the paper claims parity a reviewer will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elevation data, filtered for buildable slope and confined to one landform. Outputs are latitude, longitude and elevation for every pad in ALMA's own file format. Three configurations because sixteen antennas over three kilometres cannot also give 32 metre baselines; I checked they overlap so nothing falls between them. Not a construction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builds a telescope to touch UV cells. The replacement comes from estimation theory: for a real source, HL Tau, Fisher information says exactly how much each UV sample is worth for measuring a ring's depth, radius or width. Optimising for the measurement beats cell count by 10 to 16 percent on the error bar, at a cost in coverage: the estimation versus imaging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optimises a stand-in for image quality. I built an end-to-end imaging pipeline to test it. The transform returns the input sky to one part in ten to the sixteen. For structure, occupied cells predict perfectly. For flux on extended sources they predict nothing. Source: experiments/14_imaging_validation.py.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cell-maximising array has 55 percent more cells and recovers 42 percent of a smooth source where the spiral recovers 91. More cells live at large UV radius, so maximising cells drives antennas outward, and long baselines resolve out extended emission. The paper now says the 10 percent search gain is structural, not flux, because a reviewer would find it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effects were missing: primary beam, bandwidth and time smearing. Which one limits the usable field depends on the observation: the dish for spectral line, bandwidth for continuum, collapsing to two-thirds of an arcsecond for wide continuum. Both smearing limits scale with the synthesised beam, so extending the array shrinks the usable field. Sensitivity is now in physical units: about 30 microjansky per hour at Hanle in good winter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wrapped in a command-line tool: give it a site, antenna count and dish size, get pad coordinates and every pairwise distance. There is no penalty input because the classical search never changes the count; on the QUBO route the code derives the smallest safe penalty and shows it, rather than inviting a wrong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thirteen pages, every number generated not typed, and the paper folder is self-contained with checksummed code. What blocks submission is not science but seven metadata fields I cannot fill in. The build refuses to call itself ready while any is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Authorship: your entry is prepared but nobody goes on a paper without reading it. The metadata I cannot supply. The real decision: the evidence supports an honest paper that says the quantum route does not currently pay, not one titled around quantum succeeding. And the single most valuable input: what should this array observe? One sentence, measure X in sources of type Y, unblocks more than any further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if asked about terms. One arcsecond is 1/3600 of a degree, roughly a one-rupee coin seen from 4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ready if the quantum angle is pushed. Each is stated in the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rtlCol="0"/>
          <a:lstStyle>
            <a:lvl1pPr indent="0" marL="0">
              <a:buNone/>
              <a:defRPr lang="en-US" sz="3600" b="1" dirty="0">
                <a:solidFill>
                  <a:srgbClr val="FFFFFF"/>
                </a:solidFill>
                <a:latin typeface="Cambria" pitchFamily="34" charset="0"/>
                <a:ea typeface="Cambria" pitchFamily="34" charset="-122"/>
                <a:cs typeface="Cambria" pitchFamily="34" charset="-120"/>
              </a:defRPr>
            </a:lvl1pPr>
          </a:lstStyle>
          <a:p>
            <a:pPr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rgbClr val="0B1D3A"/>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github.com/manas-vamsi/thz-quantum-optimization</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Quantum Optimization of Terahertz Interferometric Architectures</a:t>
            </a:r>
            <a:endParaRPr lang="en-US" sz="3600" dirty="0"/>
          </a:p>
        </p:txBody>
      </p:sp>
      <p:sp>
        <p:nvSpPr>
          <p:cNvPr id="3" name="Text 1"/>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2A541"/>
                </a:solidFill>
                <a:latin typeface="Calibri" pitchFamily="34" charset="0"/>
                <a:ea typeface="Calibri" pitchFamily="34" charset="-122"/>
                <a:cs typeface="Calibri" pitchFamily="34" charset="-120"/>
              </a:rPr>
              <a:t>Progress report: formulation, solver benchmark, and three findings</a:t>
            </a:r>
            <a:endParaRPr lang="en-US" sz="1800" dirty="0"/>
          </a:p>
        </p:txBody>
      </p:sp>
      <p:sp>
        <p:nvSpPr>
          <p:cNvPr id="4" name="Text 2"/>
          <p:cNvSpPr txBox="1"/>
          <p:nvPr/>
        </p:nvSpPr>
        <p:spPr>
          <a:xfrm>
            <a:off x="548640" y="356616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Manasa Vamsi</a:t>
            </a:r>
            <a:endParaRPr lang="en-US" sz="1600" dirty="0"/>
          </a:p>
        </p:txBody>
      </p:sp>
      <p:sp>
        <p:nvSpPr>
          <p:cNvPr id="5" name="Text 3"/>
          <p:cNvSpPr txBox="1"/>
          <p:nvPr/>
        </p:nvSpPr>
        <p:spPr>
          <a:xfrm>
            <a:off x="548640" y="3886200"/>
            <a:ext cx="7315200" cy="274320"/>
          </a:xfrm>
          <a:prstGeom prst="rect">
            <a:avLst/>
          </a:prstGeom>
          <a:noFill/>
          <a:ln/>
        </p:spPr>
        <p:txBody>
          <a:bodyPr wrap="square" lIns="0" tIns="0" rIns="0" bIns="0" rtlCol="0" anchor="ctr"/>
          <a:lstStyle/>
          <a:p>
            <a:pPr indent="0" marL="0">
              <a:buNone/>
            </a:pPr>
            <a:r>
              <a:rPr lang="en-US" sz="1300" dirty="0">
                <a:solidFill>
                  <a:srgbClr val="AFC0D8"/>
                </a:solidFill>
                <a:latin typeface="Calibri" pitchFamily="34" charset="0"/>
                <a:ea typeface="Calibri" pitchFamily="34" charset="-122"/>
                <a:cs typeface="Calibri" pitchFamily="34" charset="-120"/>
              </a:rPr>
              <a:t>For: Vishwas, Space Applications Centre, ISRO</a:t>
            </a:r>
            <a:endParaRPr lang="en-US" sz="1300" dirty="0"/>
          </a:p>
        </p:txBody>
      </p:sp>
      <p:sp>
        <p:nvSpPr>
          <p:cNvPr id="6" name="Text 4"/>
          <p:cNvSpPr txBox="1"/>
          <p:nvPr/>
        </p:nvSpPr>
        <p:spPr>
          <a:xfrm>
            <a:off x="548640" y="4206240"/>
            <a:ext cx="7315200" cy="274320"/>
          </a:xfrm>
          <a:prstGeom prst="rect">
            <a:avLst/>
          </a:prstGeom>
          <a:noFill/>
          <a:ln/>
        </p:spPr>
        <p:txBody>
          <a:bodyPr wrap="square" lIns="0" tIns="0" rIns="0" bIns="0" rtlCol="0" anchor="ctr"/>
          <a:lstStyle/>
          <a:p>
            <a:pPr indent="0" marL="0">
              <a:buNone/>
            </a:pPr>
            <a:r>
              <a:rPr lang="en-US" sz="1200" dirty="0">
                <a:solidFill>
                  <a:srgbClr val="AFC0D8"/>
                </a:solidFill>
                <a:latin typeface="Calibri" pitchFamily="34" charset="0"/>
                <a:ea typeface="Calibri" pitchFamily="34" charset="-122"/>
                <a:cs typeface="Calibri" pitchFamily="34" charset="-120"/>
              </a:rPr>
              <a:t>github.com/manas-vamsi/thz-quantum-optimization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What was asked</a:t>
            </a:r>
            <a:endParaRPr lang="en-US" sz="2800" dirty="0"/>
          </a:p>
        </p:txBody>
      </p:sp>
      <p:sp>
        <p:nvSpPr>
          <p:cNvPr id="3" name="request"/>
          <p:cNvSpPr/>
          <p:nvPr/>
        </p:nvSpPr>
        <p:spPr>
          <a:xfrm>
            <a:off x="457200" y="1188720"/>
            <a:ext cx="3840480" cy="3291840"/>
          </a:xfrm>
          <a:prstGeom prst="roundRect">
            <a:avLst>
              <a:gd name="adj" fmla="val 2222"/>
            </a:avLst>
          </a:prstGeom>
          <a:solidFill>
            <a:srgbClr val="0B1D3A"/>
          </a:solidFill>
          <a:ln w="12700">
            <a:solidFill>
              <a:srgbClr val="0B1D3A"/>
            </a:solidFill>
            <a:prstDash val="solid"/>
          </a:ln>
        </p:spPr>
      </p:sp>
      <p:sp>
        <p:nvSpPr>
          <p:cNvPr id="4" name="Text 2"/>
          <p:cNvSpPr txBox="1"/>
          <p:nvPr/>
        </p:nvSpPr>
        <p:spPr>
          <a:xfrm>
            <a:off x="731520" y="1417320"/>
            <a:ext cx="329184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THE REQUEST</a:t>
            </a:r>
            <a:endParaRPr lang="en-US" sz="1200" dirty="0"/>
          </a:p>
        </p:txBody>
      </p:sp>
      <p:sp>
        <p:nvSpPr>
          <p:cNvPr id="5" name="Text 3"/>
          <p:cNvSpPr txBox="1"/>
          <p:nvPr/>
        </p:nvSpPr>
        <p:spPr>
          <a:xfrm>
            <a:off x="731520" y="1783080"/>
            <a:ext cx="3291840" cy="146304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The mathematical formulation of the objective function for QUBO application</a:t>
            </a:r>
            <a:endParaRPr lang="en-US" sz="2000" dirty="0"/>
          </a:p>
        </p:txBody>
      </p:sp>
      <p:sp>
        <p:nvSpPr>
          <p:cNvPr id="6" name="Text 4"/>
          <p:cNvSpPr txBox="1"/>
          <p:nvPr/>
        </p:nvSpPr>
        <p:spPr>
          <a:xfrm>
            <a:off x="731520" y="3429000"/>
            <a:ext cx="3291840" cy="822960"/>
          </a:xfrm>
          <a:prstGeom prst="rect">
            <a:avLst/>
          </a:prstGeom>
          <a:noFill/>
          <a:ln/>
        </p:spPr>
        <p:txBody>
          <a:bodyPr wrap="square" lIns="0" tIns="0" rIns="0" bIns="0" rtlCol="0" anchor="ctr"/>
          <a:lstStyle/>
          <a:p>
            <a:pPr indent="0" marL="0">
              <a:buNone/>
            </a:pPr>
            <a:r>
              <a:rPr lang="en-US" sz="1100" i="1" dirty="0">
                <a:solidFill>
                  <a:srgbClr val="AFC0D8"/>
                </a:solidFill>
                <a:latin typeface="Calibri" pitchFamily="34" charset="0"/>
                <a:ea typeface="Calibri" pitchFamily="34" charset="-122"/>
                <a:cs typeface="Calibri" pitchFamily="34" charset="-120"/>
              </a:rPr>
              <a:t>QUBO = Quadratic Unconstrained Binary Optimization - the form a quantum annealer accepts</a:t>
            </a:r>
            <a:endParaRPr lang="en-US" sz="1100" dirty="0"/>
          </a:p>
        </p:txBody>
      </p:sp>
      <p:sp>
        <p:nvSpPr>
          <p:cNvPr id="7" name="Text 5"/>
          <p:cNvSpPr txBox="1"/>
          <p:nvPr/>
        </p:nvSpPr>
        <p:spPr>
          <a:xfrm>
            <a:off x="4663440" y="1234440"/>
            <a:ext cx="402336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DELIVERED</a:t>
            </a:r>
            <a:endParaRPr lang="en-US" sz="1200" dirty="0"/>
          </a:p>
        </p:txBody>
      </p:sp>
      <p:sp>
        <p:nvSpPr>
          <p:cNvPr id="8" name="Shape 6"/>
          <p:cNvSpPr/>
          <p:nvPr/>
        </p:nvSpPr>
        <p:spPr>
          <a:xfrm>
            <a:off x="4663440" y="1645920"/>
            <a:ext cx="384048" cy="384048"/>
          </a:xfrm>
          <a:prstGeom prst="ellipse">
            <a:avLst/>
          </a:prstGeom>
          <a:solidFill>
            <a:srgbClr val="2A9D8F"/>
          </a:solidFill>
          <a:ln w="12700">
            <a:solidFill>
              <a:srgbClr val="2A9D8F"/>
            </a:solidFill>
            <a:prstDash val="solid"/>
          </a:ln>
        </p:spPr>
      </p:sp>
      <p:sp>
        <p:nvSpPr>
          <p:cNvPr id="9" name="Text 7"/>
          <p:cNvSpPr txBox="1"/>
          <p:nvPr/>
        </p:nvSpPr>
        <p:spPr>
          <a:xfrm>
            <a:off x="466344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5212080" y="1627632"/>
            <a:ext cx="3474720" cy="27432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Full derivation</a:t>
            </a:r>
            <a:endParaRPr lang="en-US" sz="1500" dirty="0"/>
          </a:p>
        </p:txBody>
      </p:sp>
      <p:sp>
        <p:nvSpPr>
          <p:cNvPr id="11" name="Text 9"/>
          <p:cNvSpPr txBox="1"/>
          <p:nvPr/>
        </p:nvSpPr>
        <p:spPr>
          <a:xfrm>
            <a:off x="5212080" y="1901952"/>
            <a:ext cx="3474720" cy="274320"/>
          </a:xfrm>
          <a:prstGeom prst="rect">
            <a:avLst/>
          </a:prstGeom>
          <a:noFill/>
          <a:ln/>
        </p:spPr>
        <p:txBody>
          <a:bodyPr wrap="square" lIns="0" tIns="0" rIns="0" bIns="0" rtlCol="0" anchor="ctr"/>
          <a:lstStyle/>
          <a:p>
            <a:pPr indent="0" marL="0">
              <a:buNone/>
            </a:pPr>
            <a:r>
              <a:rPr lang="en-US" sz="1200" dirty="0">
                <a:solidFill>
                  <a:srgbClr val="5B6B82"/>
                </a:solidFill>
                <a:latin typeface="Courier New" pitchFamily="34" charset="0"/>
                <a:ea typeface="Courier New" pitchFamily="34" charset="-122"/>
                <a:cs typeface="Courier New" pitchFamily="34" charset="-120"/>
              </a:rPr>
              <a:t>docs/objective_function.md</a:t>
            </a:r>
            <a:endParaRPr lang="en-US" sz="1200" dirty="0"/>
          </a:p>
        </p:txBody>
      </p:sp>
      <p:sp>
        <p:nvSpPr>
          <p:cNvPr id="12" name="Shape 10"/>
          <p:cNvSpPr/>
          <p:nvPr/>
        </p:nvSpPr>
        <p:spPr>
          <a:xfrm>
            <a:off x="4663440" y="2423160"/>
            <a:ext cx="384048" cy="384048"/>
          </a:xfrm>
          <a:prstGeom prst="ellipse">
            <a:avLst/>
          </a:prstGeom>
          <a:solidFill>
            <a:srgbClr val="2A9D8F"/>
          </a:solidFill>
          <a:ln w="12700">
            <a:solidFill>
              <a:srgbClr val="2A9D8F"/>
            </a:solidFill>
            <a:prstDash val="solid"/>
          </a:ln>
        </p:spPr>
      </p:sp>
      <p:sp>
        <p:nvSpPr>
          <p:cNvPr id="13" name="Text 11"/>
          <p:cNvSpPr txBox="1"/>
          <p:nvPr/>
        </p:nvSpPr>
        <p:spPr>
          <a:xfrm>
            <a:off x="4663440" y="2423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212080" y="2404872"/>
            <a:ext cx="3474720" cy="27432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Implementation</a:t>
            </a:r>
            <a:endParaRPr lang="en-US" sz="1500" dirty="0"/>
          </a:p>
        </p:txBody>
      </p:sp>
      <p:sp>
        <p:nvSpPr>
          <p:cNvPr id="15" name="Text 13"/>
          <p:cNvSpPr txBox="1"/>
          <p:nvPr/>
        </p:nvSpPr>
        <p:spPr>
          <a:xfrm>
            <a:off x="5212080" y="2679192"/>
            <a:ext cx="3474720" cy="274320"/>
          </a:xfrm>
          <a:prstGeom prst="rect">
            <a:avLst/>
          </a:prstGeom>
          <a:noFill/>
          <a:ln/>
        </p:spPr>
        <p:txBody>
          <a:bodyPr wrap="square" lIns="0" tIns="0" rIns="0" bIns="0" rtlCol="0" anchor="ctr"/>
          <a:lstStyle/>
          <a:p>
            <a:pPr indent="0" marL="0">
              <a:buNone/>
            </a:pPr>
            <a:r>
              <a:rPr lang="en-US" sz="1200" dirty="0">
                <a:solidFill>
                  <a:srgbClr val="5B6B82"/>
                </a:solidFill>
                <a:latin typeface="Courier New" pitchFamily="34" charset="0"/>
                <a:ea typeface="Courier New" pitchFamily="34" charset="-122"/>
                <a:cs typeface="Courier New" pitchFamily="34" charset="-120"/>
              </a:rPr>
              <a:t>src/thz_opt/qubo/</a:t>
            </a:r>
            <a:endParaRPr lang="en-US" sz="1200" dirty="0"/>
          </a:p>
        </p:txBody>
      </p:sp>
      <p:sp>
        <p:nvSpPr>
          <p:cNvPr id="16" name="Shape 14"/>
          <p:cNvSpPr/>
          <p:nvPr/>
        </p:nvSpPr>
        <p:spPr>
          <a:xfrm>
            <a:off x="4663440" y="3200400"/>
            <a:ext cx="384048" cy="384048"/>
          </a:xfrm>
          <a:prstGeom prst="ellipse">
            <a:avLst/>
          </a:prstGeom>
          <a:solidFill>
            <a:srgbClr val="2A9D8F"/>
          </a:solidFill>
          <a:ln w="12700">
            <a:solidFill>
              <a:srgbClr val="2A9D8F"/>
            </a:solidFill>
            <a:prstDash val="solid"/>
          </a:ln>
        </p:spPr>
      </p:sp>
      <p:sp>
        <p:nvSpPr>
          <p:cNvPr id="17" name="Text 15"/>
          <p:cNvSpPr txBox="1"/>
          <p:nvPr/>
        </p:nvSpPr>
        <p:spPr>
          <a:xfrm>
            <a:off x="466344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5212080" y="3182112"/>
            <a:ext cx="3474720" cy="27432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Write-up</a:t>
            </a:r>
            <a:endParaRPr lang="en-US" sz="1500" dirty="0"/>
          </a:p>
        </p:txBody>
      </p:sp>
      <p:sp>
        <p:nvSpPr>
          <p:cNvPr id="19" name="Text 17"/>
          <p:cNvSpPr txBox="1"/>
          <p:nvPr/>
        </p:nvSpPr>
        <p:spPr>
          <a:xfrm>
            <a:off x="5212080" y="3456432"/>
            <a:ext cx="3474720" cy="274320"/>
          </a:xfrm>
          <a:prstGeom prst="rect">
            <a:avLst/>
          </a:prstGeom>
          <a:noFill/>
          <a:ln/>
        </p:spPr>
        <p:txBody>
          <a:bodyPr wrap="square" lIns="0" tIns="0" rIns="0" bIns="0" rtlCol="0" anchor="ctr"/>
          <a:lstStyle/>
          <a:p>
            <a:pPr indent="0" marL="0">
              <a:buNone/>
            </a:pPr>
            <a:r>
              <a:rPr lang="en-US" sz="1200" dirty="0">
                <a:solidFill>
                  <a:srgbClr val="5B6B82"/>
                </a:solidFill>
                <a:latin typeface="Courier New" pitchFamily="34" charset="0"/>
                <a:ea typeface="Courier New" pitchFamily="34" charset="-122"/>
                <a:cs typeface="Courier New" pitchFamily="34" charset="-120"/>
              </a:rPr>
              <a:t>paper/manuscript.pdf, Section 2</a:t>
            </a:r>
            <a:endParaRPr lang="en-US" sz="1200" dirty="0"/>
          </a:p>
        </p:txBody>
      </p:sp>
      <p:sp>
        <p:nvSpPr>
          <p:cNvPr id="20" name="Text 18"/>
          <p:cNvSpPr txBox="1"/>
          <p:nvPr/>
        </p:nvSpPr>
        <p:spPr>
          <a:xfrm>
            <a:off x="4663440" y="4069080"/>
            <a:ext cx="4023360" cy="411480"/>
          </a:xfrm>
          <a:prstGeom prst="rect">
            <a:avLst/>
          </a:prstGeom>
          <a:noFill/>
          <a:ln/>
        </p:spPr>
        <p:txBody>
          <a:bodyPr wrap="square" lIns="0" tIns="0" rIns="0" bIns="0" rtlCol="0" anchor="ctr"/>
          <a:lstStyle/>
          <a:p>
            <a:pPr indent="0" marL="0">
              <a:buNone/>
            </a:pPr>
            <a:r>
              <a:rPr lang="en-US" sz="1300" i="1" dirty="0">
                <a:solidFill>
                  <a:srgbClr val="C8553D"/>
                </a:solidFill>
                <a:latin typeface="Calibri" pitchFamily="34" charset="0"/>
                <a:ea typeface="Calibri" pitchFamily="34" charset="-122"/>
                <a:cs typeface="Calibri" pitchFamily="34" charset="-120"/>
              </a:rPr>
              <a:t>Doing it properly turned up two things about the onboarding note.</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Your Section 4 claim is correct - and now proven</a:t>
            </a:r>
            <a:endParaRPr lang="en-US" sz="2800" dirty="0"/>
          </a:p>
        </p:txBody>
      </p:sp>
      <p:sp>
        <p:nvSpPr>
          <p:cNvPr id="3" name="Text 1"/>
          <p:cNvSpPr txBox="1"/>
          <p:nvPr/>
        </p:nvSpPr>
        <p:spPr>
          <a:xfrm>
            <a:off x="457200" y="1188720"/>
            <a:ext cx="3931920" cy="274320"/>
          </a:xfrm>
          <a:prstGeom prst="rect">
            <a:avLst/>
          </a:prstGeom>
          <a:noFill/>
          <a:ln/>
        </p:spPr>
        <p:txBody>
          <a:bodyPr wrap="square" lIns="0" tIns="0" rIns="0" bIns="0" rtlCol="0" anchor="ctr"/>
          <a:lstStyle/>
          <a:p>
            <a:pPr indent="0" marL="0">
              <a:buNone/>
            </a:pPr>
            <a:r>
              <a:rPr lang="en-US" sz="1200" b="1" dirty="0">
                <a:solidFill>
                  <a:srgbClr val="5B6B82"/>
                </a:solidFill>
                <a:latin typeface="Calibri" pitchFamily="34" charset="0"/>
                <a:ea typeface="Calibri" pitchFamily="34" charset="-122"/>
                <a:cs typeface="Calibri" pitchFamily="34" charset="-120"/>
              </a:rPr>
              <a:t>Claim in the note</a:t>
            </a:r>
            <a:endParaRPr lang="en-US" sz="1200" dirty="0"/>
          </a:p>
        </p:txBody>
      </p:sp>
      <p:sp>
        <p:nvSpPr>
          <p:cNvPr id="4" name="Text 2"/>
          <p:cNvSpPr txBox="1"/>
          <p:nvPr/>
        </p:nvSpPr>
        <p:spPr>
          <a:xfrm>
            <a:off x="457200" y="1463040"/>
            <a:ext cx="3931920" cy="822960"/>
          </a:xfrm>
          <a:prstGeom prst="rect">
            <a:avLst/>
          </a:prstGeom>
          <a:noFill/>
          <a:ln/>
        </p:spPr>
        <p:txBody>
          <a:bodyPr wrap="square" lIns="0" tIns="0" rIns="0" bIns="0" rtlCol="0" anchor="ctr"/>
          <a:lstStyle/>
          <a:p>
            <a:pPr indent="0" marL="0">
              <a:buNone/>
            </a:pPr>
            <a:r>
              <a:rPr lang="en-US" sz="2000" dirty="0">
                <a:solidFill>
                  <a:srgbClr val="0B1D3A"/>
                </a:solidFill>
                <a:latin typeface="Cambria" pitchFamily="34" charset="0"/>
                <a:ea typeface="Cambria" pitchFamily="34" charset="-122"/>
                <a:cs typeface="Cambria" pitchFamily="34" charset="-120"/>
              </a:rPr>
              <a:t>Minimising UV auto-correlation minimises PSF sidelobes</a:t>
            </a:r>
            <a:endParaRPr lang="en-US" sz="2000" dirty="0"/>
          </a:p>
        </p:txBody>
      </p:sp>
      <p:sp>
        <p:nvSpPr>
          <p:cNvPr id="5" name="Text 3"/>
          <p:cNvSpPr txBox="1"/>
          <p:nvPr/>
        </p:nvSpPr>
        <p:spPr>
          <a:xfrm>
            <a:off x="457200" y="2423160"/>
            <a:ext cx="3931920" cy="14630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Follows from Parseval's theorem</a:t>
            </a:r>
            <a:endParaRPr lang="en-US" sz="1400" dirty="0"/>
          </a:p>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Dirty-beam energy = sum of squared gridded sampling counts</a:t>
            </a:r>
            <a:endParaRPr lang="en-US" sz="1400" dirty="0"/>
          </a:p>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So 'fewer sidelobes' and 'less UV overlap' are the same number</a:t>
            </a:r>
            <a:endParaRPr lang="en-US" sz="1400" dirty="0"/>
          </a:p>
        </p:txBody>
      </p:sp>
      <p:sp>
        <p:nvSpPr>
          <p:cNvPr id="6" name="proof"/>
          <p:cNvSpPr/>
          <p:nvPr/>
        </p:nvSpPr>
        <p:spPr>
          <a:xfrm>
            <a:off x="4846320" y="1188720"/>
            <a:ext cx="3840480" cy="3200400"/>
          </a:xfrm>
          <a:prstGeom prst="roundRect">
            <a:avLst>
              <a:gd name="adj" fmla="val 2286"/>
            </a:avLst>
          </a:prstGeom>
          <a:solidFill>
            <a:srgbClr val="F4F6FA"/>
          </a:solidFill>
          <a:ln w="12700">
            <a:solidFill>
              <a:srgbClr val="F4F6FA"/>
            </a:solidFill>
            <a:prstDash val="solid"/>
          </a:ln>
        </p:spPr>
      </p:sp>
      <p:sp>
        <p:nvSpPr>
          <p:cNvPr id="7" name="Text 5"/>
          <p:cNvSpPr txBox="1"/>
          <p:nvPr/>
        </p:nvSpPr>
        <p:spPr>
          <a:xfrm>
            <a:off x="5120640" y="1417320"/>
            <a:ext cx="3291840" cy="274320"/>
          </a:xfrm>
          <a:prstGeom prst="rect">
            <a:avLst/>
          </a:prstGeom>
          <a:noFill/>
          <a:ln/>
        </p:spPr>
        <p:txBody>
          <a:bodyPr wrap="square" lIns="0" tIns="0" rIns="0" bIns="0" rtlCol="0" anchor="ctr"/>
          <a:lstStyle/>
          <a:p>
            <a:pPr indent="0" marL="0">
              <a:buNone/>
            </a:pPr>
            <a:r>
              <a:rPr lang="en-US" sz="1200" b="1" dirty="0">
                <a:solidFill>
                  <a:srgbClr val="5B6B82"/>
                </a:solidFill>
                <a:latin typeface="Calibri" pitchFamily="34" charset="0"/>
                <a:ea typeface="Calibri" pitchFamily="34" charset="-122"/>
                <a:cs typeface="Calibri" pitchFamily="34" charset="-120"/>
              </a:rPr>
              <a:t>Numerical check</a:t>
            </a:r>
            <a:endParaRPr lang="en-US" sz="1200" dirty="0"/>
          </a:p>
        </p:txBody>
      </p:sp>
      <p:sp>
        <p:nvSpPr>
          <p:cNvPr id="8" name="Text 6"/>
          <p:cNvSpPr txBox="1"/>
          <p:nvPr/>
        </p:nvSpPr>
        <p:spPr>
          <a:xfrm>
            <a:off x="4937760" y="1965960"/>
            <a:ext cx="3657600" cy="822960"/>
          </a:xfrm>
          <a:prstGeom prst="rect">
            <a:avLst/>
          </a:prstGeom>
          <a:noFill/>
          <a:ln/>
        </p:spPr>
        <p:txBody>
          <a:bodyPr wrap="square" lIns="0" tIns="0" rIns="0" bIns="0" rtlCol="0" anchor="ctr"/>
          <a:lstStyle/>
          <a:p>
            <a:pPr algn="ctr" indent="0" marL="0">
              <a:buNone/>
            </a:pPr>
            <a:r>
              <a:rPr lang="en-US" sz="3400" b="1" dirty="0">
                <a:solidFill>
                  <a:srgbClr val="2A9D8F"/>
                </a:solidFill>
                <a:latin typeface="Cambria" pitchFamily="34" charset="0"/>
                <a:ea typeface="Cambria" pitchFamily="34" charset="-122"/>
                <a:cs typeface="Cambria" pitchFamily="34" charset="-120"/>
              </a:rPr>
              <a:t>1.000000000000</a:t>
            </a:r>
            <a:endParaRPr lang="en-US" sz="3400" dirty="0"/>
          </a:p>
        </p:txBody>
      </p:sp>
      <p:sp>
        <p:nvSpPr>
          <p:cNvPr id="9" name="Text 7"/>
          <p:cNvSpPr txBox="1"/>
          <p:nvPr/>
        </p:nvSpPr>
        <p:spPr>
          <a:xfrm>
            <a:off x="5120640" y="2788920"/>
            <a:ext cx="3291840" cy="32004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ratio of the two quantities on a real layout</a:t>
            </a:r>
            <a:endParaRPr lang="en-US" sz="1200" dirty="0"/>
          </a:p>
        </p:txBody>
      </p:sp>
      <p:sp>
        <p:nvSpPr>
          <p:cNvPr id="10" name="Text 8"/>
          <p:cNvSpPr txBox="1"/>
          <p:nvPr/>
        </p:nvSpPr>
        <p:spPr>
          <a:xfrm>
            <a:off x="5120640" y="3383280"/>
            <a:ext cx="3291840" cy="731520"/>
          </a:xfrm>
          <a:prstGeom prst="rect">
            <a:avLst/>
          </a:prstGeom>
          <a:noFill/>
          <a:ln/>
        </p:spPr>
        <p:txBody>
          <a:bodyPr wrap="square" lIns="0" tIns="0" rIns="0" bIns="0" rtlCol="0" anchor="ctr"/>
          <a:lstStyle/>
          <a:p>
            <a:pPr indent="0" marL="0">
              <a:buNone/>
            </a:pPr>
            <a:r>
              <a:rPr lang="en-US" sz="1200" i="1" dirty="0">
                <a:solidFill>
                  <a:srgbClr val="1B2A41"/>
                </a:solidFill>
                <a:latin typeface="Calibri" pitchFamily="34" charset="0"/>
                <a:ea typeface="Calibri" pitchFamily="34" charset="-122"/>
                <a:cs typeface="Calibri" pitchFamily="34" charset="-120"/>
              </a:rPr>
              <a:t>Why it matters: this is what licenses the whole objective - it is the thing itself, not a proxy.</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Your Q_ij recipe cannot be written as stated</a:t>
            </a:r>
            <a:endParaRPr lang="en-US" sz="2800" dirty="0"/>
          </a:p>
        </p:txBody>
      </p:sp>
      <p:sp>
        <p:nvSpPr>
          <p:cNvPr id="3" name="problem"/>
          <p:cNvSpPr/>
          <p:nvPr/>
        </p:nvSpPr>
        <p:spPr>
          <a:xfrm>
            <a:off x="457200" y="1188720"/>
            <a:ext cx="3931920" cy="1600200"/>
          </a:xfrm>
          <a:prstGeom prst="roundRect">
            <a:avLst>
              <a:gd name="adj" fmla="val 4571"/>
            </a:avLst>
          </a:prstGeom>
          <a:solidFill>
            <a:srgbClr val="FBEAE6"/>
          </a:solidFill>
          <a:ln w="12700">
            <a:solidFill>
              <a:srgbClr val="FBEAE6"/>
            </a:solidFill>
            <a:prstDash val="solid"/>
          </a:ln>
        </p:spPr>
      </p:sp>
      <p:sp>
        <p:nvSpPr>
          <p:cNvPr id="4" name="Text 2"/>
          <p:cNvSpPr txBox="1"/>
          <p:nvPr/>
        </p:nvSpPr>
        <p:spPr>
          <a:xfrm>
            <a:off x="685800" y="1325880"/>
            <a:ext cx="3474720" cy="274320"/>
          </a:xfrm>
          <a:prstGeom prst="rect">
            <a:avLst/>
          </a:prstGeom>
          <a:noFill/>
          <a:ln/>
        </p:spPr>
        <p:txBody>
          <a:bodyPr wrap="square" lIns="0" tIns="0" rIns="0" bIns="0" rtlCol="0" anchor="ctr"/>
          <a:lstStyle/>
          <a:p>
            <a:pPr indent="0" marL="0">
              <a:buNone/>
            </a:pPr>
            <a:r>
              <a:rPr lang="en-US" sz="1200" b="1" spc="200" kern="0" dirty="0">
                <a:solidFill>
                  <a:srgbClr val="C8553D"/>
                </a:solidFill>
                <a:latin typeface="Calibri" pitchFamily="34" charset="0"/>
                <a:ea typeface="Calibri" pitchFamily="34" charset="-122"/>
                <a:cs typeface="Calibri" pitchFamily="34" charset="-120"/>
              </a:rPr>
              <a:t>THE PROBLEM</a:t>
            </a:r>
            <a:endParaRPr lang="en-US" sz="1200" dirty="0"/>
          </a:p>
        </p:txBody>
      </p:sp>
      <p:sp>
        <p:nvSpPr>
          <p:cNvPr id="5" name="Text 3"/>
          <p:cNvSpPr txBox="1"/>
          <p:nvPr/>
        </p:nvSpPr>
        <p:spPr>
          <a:xfrm>
            <a:off x="685800" y="1645920"/>
            <a:ext cx="3520440" cy="1051560"/>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Baseline overlap needs 4 antenna indices (i, j, k, l). Q_ij has only 2 slots. Written directly the objective is quartic - not a QUBO.</a:t>
            </a:r>
            <a:endParaRPr lang="en-US" sz="1300" dirty="0"/>
          </a:p>
        </p:txBody>
      </p:sp>
      <p:sp>
        <p:nvSpPr>
          <p:cNvPr id="6" name="fix"/>
          <p:cNvSpPr/>
          <p:nvPr/>
        </p:nvSpPr>
        <p:spPr>
          <a:xfrm>
            <a:off x="457200" y="2971800"/>
            <a:ext cx="3931920" cy="1600200"/>
          </a:xfrm>
          <a:prstGeom prst="roundRect">
            <a:avLst>
              <a:gd name="adj" fmla="val 4571"/>
            </a:avLst>
          </a:prstGeom>
          <a:solidFill>
            <a:srgbClr val="E3F2EF"/>
          </a:solidFill>
          <a:ln w="12700">
            <a:solidFill>
              <a:srgbClr val="E3F2EF"/>
            </a:solidFill>
            <a:prstDash val="solid"/>
          </a:ln>
        </p:spPr>
      </p:sp>
      <p:sp>
        <p:nvSpPr>
          <p:cNvPr id="7" name="Text 5"/>
          <p:cNvSpPr txBox="1"/>
          <p:nvPr/>
        </p:nvSpPr>
        <p:spPr>
          <a:xfrm>
            <a:off x="685800" y="3108960"/>
            <a:ext cx="347472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THE FIX (core contribution)</a:t>
            </a:r>
            <a:endParaRPr lang="en-US" sz="1200" dirty="0"/>
          </a:p>
        </p:txBody>
      </p:sp>
      <p:sp>
        <p:nvSpPr>
          <p:cNvPr id="8" name="Text 6"/>
          <p:cNvSpPr txBox="1"/>
          <p:nvPr/>
        </p:nvSpPr>
        <p:spPr>
          <a:xfrm>
            <a:off x="685800" y="3429000"/>
            <a:ext cx="3520440" cy="109728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1B2A41"/>
                </a:solidFill>
                <a:latin typeface="Calibri" pitchFamily="34" charset="0"/>
                <a:ea typeface="Calibri" pitchFamily="34" charset="-122"/>
                <a:cs typeface="Calibri" pitchFamily="34" charset="-120"/>
              </a:rPr>
              <a:t>One activation variable y_k per antenna pair</a:t>
            </a:r>
            <a:endParaRPr lang="en-US" sz="1300" dirty="0"/>
          </a:p>
          <a:p>
            <a:pPr marL="342900" indent="-342900">
              <a:spcAft>
                <a:spcPts val="300"/>
              </a:spcAft>
              <a:buSzPct val="100000"/>
              <a:buChar char="•"/>
            </a:pPr>
            <a:r>
              <a:rPr lang="en-US" sz="1300" dirty="0">
                <a:solidFill>
                  <a:srgbClr val="1B2A41"/>
                </a:solidFill>
                <a:latin typeface="Calibri" pitchFamily="34" charset="0"/>
                <a:ea typeface="Calibri" pitchFamily="34" charset="-122"/>
                <a:cs typeface="Calibri" pitchFamily="34" charset="-120"/>
              </a:rPr>
              <a:t>Enforce y_k = x_i * x_j by Rosenberg quadratization</a:t>
            </a:r>
            <a:endParaRPr lang="en-US" sz="1300" dirty="0"/>
          </a:p>
          <a:p>
            <a:pPr marL="342900" indent="-342900">
              <a:spcAft>
                <a:spcPts val="300"/>
              </a:spcAft>
              <a:buSzPct val="100000"/>
              <a:buChar char="•"/>
            </a:pPr>
            <a:r>
              <a:rPr lang="en-US" sz="1300" dirty="0">
                <a:solidFill>
                  <a:srgbClr val="1B2A41"/>
                </a:solidFill>
                <a:latin typeface="Calibri" pitchFamily="34" charset="0"/>
                <a:ea typeface="Calibri" pitchFamily="34" charset="-122"/>
                <a:cs typeface="Calibri" pitchFamily="34" charset="-120"/>
              </a:rPr>
              <a:t>Overlap becomes y_k * y_l - quadratic again</a:t>
            </a:r>
            <a:endParaRPr lang="en-US" sz="1300" dirty="0"/>
          </a:p>
        </p:txBody>
      </p:sp>
      <p:sp>
        <p:nvSpPr>
          <p:cNvPr id="9" name="Shape 7"/>
          <p:cNvSpPr/>
          <p:nvPr/>
        </p:nvSpPr>
        <p:spPr>
          <a:xfrm>
            <a:off x="4937760" y="1371600"/>
            <a:ext cx="640080" cy="640080"/>
          </a:xfrm>
          <a:prstGeom prst="ellipse">
            <a:avLst/>
          </a:prstGeom>
          <a:solidFill>
            <a:srgbClr val="F2A541"/>
          </a:solidFill>
          <a:ln w="12700">
            <a:solidFill>
              <a:srgbClr val="FFFFFF"/>
            </a:solidFill>
            <a:prstDash val="solid"/>
          </a:ln>
        </p:spPr>
      </p:sp>
      <p:sp>
        <p:nvSpPr>
          <p:cNvPr id="10" name="Text 8"/>
          <p:cNvSpPr txBox="1"/>
          <p:nvPr/>
        </p:nvSpPr>
        <p:spPr>
          <a:xfrm>
            <a:off x="4937760" y="13716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11" name="Shape 9"/>
          <p:cNvSpPr/>
          <p:nvPr/>
        </p:nvSpPr>
        <p:spPr>
          <a:xfrm>
            <a:off x="5852160" y="1371600"/>
            <a:ext cx="640080" cy="640080"/>
          </a:xfrm>
          <a:prstGeom prst="ellipse">
            <a:avLst/>
          </a:prstGeom>
          <a:solidFill>
            <a:srgbClr val="F2A541"/>
          </a:solidFill>
          <a:ln w="12700">
            <a:solidFill>
              <a:srgbClr val="FFFFFF"/>
            </a:solidFill>
            <a:prstDash val="solid"/>
          </a:ln>
        </p:spPr>
      </p:sp>
      <p:sp>
        <p:nvSpPr>
          <p:cNvPr id="12" name="Text 10"/>
          <p:cNvSpPr txBox="1"/>
          <p:nvPr/>
        </p:nvSpPr>
        <p:spPr>
          <a:xfrm>
            <a:off x="5852160" y="13716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j</a:t>
            </a:r>
            <a:endParaRPr lang="en-US" sz="2000" dirty="0"/>
          </a:p>
        </p:txBody>
      </p:sp>
      <p:sp>
        <p:nvSpPr>
          <p:cNvPr id="13" name="Shape 11"/>
          <p:cNvSpPr/>
          <p:nvPr/>
        </p:nvSpPr>
        <p:spPr>
          <a:xfrm>
            <a:off x="6766560" y="1371600"/>
            <a:ext cx="640080" cy="640080"/>
          </a:xfrm>
          <a:prstGeom prst="ellipse">
            <a:avLst/>
          </a:prstGeom>
          <a:solidFill>
            <a:srgbClr val="2A9D8F"/>
          </a:solidFill>
          <a:ln w="12700">
            <a:solidFill>
              <a:srgbClr val="FFFFFF"/>
            </a:solidFill>
            <a:prstDash val="solid"/>
          </a:ln>
        </p:spPr>
      </p:sp>
      <p:sp>
        <p:nvSpPr>
          <p:cNvPr id="14" name="Text 12"/>
          <p:cNvSpPr txBox="1"/>
          <p:nvPr/>
        </p:nvSpPr>
        <p:spPr>
          <a:xfrm>
            <a:off x="6766560" y="13716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a:t>
            </a:r>
            <a:endParaRPr lang="en-US" sz="2000" dirty="0"/>
          </a:p>
        </p:txBody>
      </p:sp>
      <p:sp>
        <p:nvSpPr>
          <p:cNvPr id="15" name="Shape 13"/>
          <p:cNvSpPr/>
          <p:nvPr/>
        </p:nvSpPr>
        <p:spPr>
          <a:xfrm>
            <a:off x="7680960" y="1371600"/>
            <a:ext cx="640080" cy="640080"/>
          </a:xfrm>
          <a:prstGeom prst="ellipse">
            <a:avLst/>
          </a:prstGeom>
          <a:solidFill>
            <a:srgbClr val="2A9D8F"/>
          </a:solidFill>
          <a:ln w="12700">
            <a:solidFill>
              <a:srgbClr val="FFFFFF"/>
            </a:solidFill>
            <a:prstDash val="solid"/>
          </a:ln>
        </p:spPr>
      </p:sp>
      <p:sp>
        <p:nvSpPr>
          <p:cNvPr id="16" name="Text 14"/>
          <p:cNvSpPr txBox="1"/>
          <p:nvPr/>
        </p:nvSpPr>
        <p:spPr>
          <a:xfrm>
            <a:off x="7680960" y="13716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
            </a:r>
            <a:endParaRPr lang="en-US" sz="2000" dirty="0"/>
          </a:p>
        </p:txBody>
      </p:sp>
      <p:sp>
        <p:nvSpPr>
          <p:cNvPr id="17" name="Text 15"/>
          <p:cNvSpPr txBox="1"/>
          <p:nvPr/>
        </p:nvSpPr>
        <p:spPr>
          <a:xfrm>
            <a:off x="4937760" y="2103120"/>
            <a:ext cx="1554480" cy="27432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baseline 1</a:t>
            </a:r>
            <a:endParaRPr lang="en-US" sz="1100" dirty="0"/>
          </a:p>
        </p:txBody>
      </p:sp>
      <p:sp>
        <p:nvSpPr>
          <p:cNvPr id="18" name="Text 16"/>
          <p:cNvSpPr txBox="1"/>
          <p:nvPr/>
        </p:nvSpPr>
        <p:spPr>
          <a:xfrm>
            <a:off x="6766560" y="2103120"/>
            <a:ext cx="1554480" cy="27432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baseline 2</a:t>
            </a:r>
            <a:endParaRPr lang="en-US" sz="1100" dirty="0"/>
          </a:p>
        </p:txBody>
      </p:sp>
      <p:sp>
        <p:nvSpPr>
          <p:cNvPr id="19" name="Text 17"/>
          <p:cNvSpPr txBox="1"/>
          <p:nvPr/>
        </p:nvSpPr>
        <p:spPr>
          <a:xfrm>
            <a:off x="4846320" y="2514600"/>
            <a:ext cx="3840480" cy="365760"/>
          </a:xfrm>
          <a:prstGeom prst="rect">
            <a:avLst/>
          </a:prstGeom>
          <a:noFill/>
          <a:ln/>
        </p:spPr>
        <p:txBody>
          <a:bodyPr wrap="square" lIns="0" tIns="0" rIns="0" bIns="0" rtlCol="0" anchor="ctr"/>
          <a:lstStyle/>
          <a:p>
            <a:pPr algn="ctr" indent="0" marL="0">
              <a:buNone/>
            </a:pPr>
            <a:r>
              <a:rPr lang="en-US" sz="1500" b="1" dirty="0">
                <a:solidFill>
                  <a:srgbClr val="C8553D"/>
                </a:solidFill>
                <a:latin typeface="Calibri" pitchFamily="34" charset="0"/>
                <a:ea typeface="Calibri" pitchFamily="34" charset="-122"/>
                <a:cs typeface="Calibri" pitchFamily="34" charset="-120"/>
              </a:rPr>
              <a:t>4 indices  &gt;  Q_ij's 2 slots</a:t>
            </a:r>
            <a:endParaRPr lang="en-US" sz="1500" dirty="0"/>
          </a:p>
        </p:txBody>
      </p:sp>
      <p:sp>
        <p:nvSpPr>
          <p:cNvPr id="20" name="Text 18"/>
          <p:cNvSpPr txBox="1"/>
          <p:nvPr/>
        </p:nvSpPr>
        <p:spPr>
          <a:xfrm>
            <a:off x="4937760" y="3154680"/>
            <a:ext cx="1828800" cy="548640"/>
          </a:xfrm>
          <a:prstGeom prst="rect">
            <a:avLst/>
          </a:prstGeom>
          <a:noFill/>
          <a:ln/>
        </p:spPr>
        <p:txBody>
          <a:bodyPr wrap="square" lIns="0" tIns="0" rIns="0" bIns="0" rtlCol="0" anchor="ctr"/>
          <a:lstStyle/>
          <a:p>
            <a:pPr indent="0" marL="0">
              <a:buNone/>
            </a:pPr>
            <a:r>
              <a:rPr lang="en-US" sz="2000" b="1" dirty="0">
                <a:solidFill>
                  <a:srgbClr val="0B1D3A"/>
                </a:solidFill>
                <a:latin typeface="Cambria" pitchFamily="34" charset="0"/>
                <a:ea typeface="Cambria" pitchFamily="34" charset="-122"/>
                <a:cs typeface="Cambria" pitchFamily="34" charset="-120"/>
              </a:rPr>
              <a:t>M + M(M-1)/2</a:t>
            </a:r>
            <a:endParaRPr lang="en-US" sz="2000" dirty="0"/>
          </a:p>
        </p:txBody>
      </p:sp>
      <p:sp>
        <p:nvSpPr>
          <p:cNvPr id="21" name="Text 19"/>
          <p:cNvSpPr txBox="1"/>
          <p:nvPr/>
        </p:nvSpPr>
        <p:spPr>
          <a:xfrm>
            <a:off x="4937760" y="3749040"/>
            <a:ext cx="182880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variables after the fix</a:t>
            </a:r>
            <a:endParaRPr lang="en-US" sz="1200" dirty="0"/>
          </a:p>
        </p:txBody>
      </p:sp>
      <p:sp>
        <p:nvSpPr>
          <p:cNvPr id="22" name="Text 20"/>
          <p:cNvSpPr txBox="1"/>
          <p:nvPr/>
        </p:nvSpPr>
        <p:spPr>
          <a:xfrm>
            <a:off x="6858000" y="3154680"/>
            <a:ext cx="1828800" cy="548640"/>
          </a:xfrm>
          <a:prstGeom prst="rect">
            <a:avLst/>
          </a:prstGeom>
          <a:noFill/>
          <a:ln/>
        </p:spPr>
        <p:txBody>
          <a:bodyPr wrap="square" lIns="0" tIns="0" rIns="0" bIns="0" rtlCol="0" anchor="ctr"/>
          <a:lstStyle/>
          <a:p>
            <a:pPr indent="0" marL="0">
              <a:buNone/>
            </a:pPr>
            <a:r>
              <a:rPr lang="en-US" sz="2800" b="1" dirty="0">
                <a:solidFill>
                  <a:srgbClr val="C8553D"/>
                </a:solidFill>
                <a:latin typeface="Cambria" pitchFamily="34" charset="0"/>
                <a:ea typeface="Cambria" pitchFamily="34" charset="-122"/>
                <a:cs typeface="Cambria" pitchFamily="34" charset="-120"/>
              </a:rPr>
              <a:t>~15,000</a:t>
            </a:r>
            <a:endParaRPr lang="en-US" sz="2800" dirty="0"/>
          </a:p>
        </p:txBody>
      </p:sp>
      <p:sp>
        <p:nvSpPr>
          <p:cNvPr id="23" name="Text 21"/>
          <p:cNvSpPr txBox="1"/>
          <p:nvPr/>
        </p:nvSpPr>
        <p:spPr>
          <a:xfrm>
            <a:off x="6858000" y="3749040"/>
            <a:ext cx="182880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variables for all 174 ALMA pads</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Real data, checked against published values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2651760"/>
                <a:gridCol w="365760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r>
              <a:tr h="438912">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174 ALMA antenna pads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CASA configuration files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16,195 m longest baseline (published ~16 km)</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438912">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27 VLA pads (control)</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CASA configuration files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36,623 m (published ~36 km)</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Atmospheric phase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ALMA Memo 624 - 17,000 observations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Memo's factors 1.51/1.59/1.22 reproduced as 1.516/1.595/1.223</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438912">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Water vapour</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Cortes 2020 - 20 years at Chajnantor</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Monthly percentiles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Terrain (Ladakh)</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SRTM / ASTER elevation</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Hanle 4,491 m (pub. 4,500); ALMA 5,036 m (pub. 5,059)</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438912">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Science source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HL Tau, ALMA 2015</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Gap radii 13.2 / 32.3 / 64.2 au</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3400"/>
            <a:ext cx="8229600" cy="411480"/>
          </a:xfrm>
          <a:prstGeom prst="rect">
            <a:avLst/>
          </a:prstGeom>
          <a:noFill/>
          <a:ln/>
        </p:spPr>
        <p:txBody>
          <a:bodyPr wrap="square" lIns="0" tIns="0" rIns="0" bIns="0" rtlCol="0" anchor="ctr"/>
          <a:lstStyle/>
          <a:p>
            <a:pPr indent="0" marL="0">
              <a:buNone/>
            </a:pPr>
            <a:r>
              <a:rPr lang="en-US" sz="1200" i="1" dirty="0">
                <a:solidFill>
                  <a:srgbClr val="5B6B82"/>
                </a:solidFill>
                <a:latin typeface="Calibri" pitchFamily="34" charset="0"/>
                <a:ea typeface="Calibri" pitchFamily="34" charset="-122"/>
                <a:cs typeface="Calibri" pitchFamily="34" charset="-120"/>
              </a:rPr>
              <a:t>The VLA row is the load-bearing check: geocentric coordinates had to be rotated into a local frame, and recovering 36 km proves the transform.</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What I built around the formulation</a:t>
            </a:r>
            <a:endParaRPr lang="en-US" sz="2800" dirty="0"/>
          </a:p>
        </p:txBody>
      </p:sp>
      <p:sp>
        <p:nvSpPr>
          <p:cNvPr id="3" name="built0"/>
          <p:cNvSpPr/>
          <p:nvPr/>
        </p:nvSpPr>
        <p:spPr>
          <a:xfrm>
            <a:off x="457200" y="1188720"/>
            <a:ext cx="1920240" cy="960120"/>
          </a:xfrm>
          <a:prstGeom prst="roundRect">
            <a:avLst>
              <a:gd name="adj" fmla="val 7619"/>
            </a:avLst>
          </a:prstGeom>
          <a:solidFill>
            <a:srgbClr val="F4F6FA"/>
          </a:solidFill>
          <a:ln w="12700">
            <a:solidFill>
              <a:srgbClr val="F4F6FA"/>
            </a:solidFill>
            <a:prstDash val="solid"/>
          </a:ln>
        </p:spPr>
      </p:sp>
      <p:sp>
        <p:nvSpPr>
          <p:cNvPr id="4" name="Text 2"/>
          <p:cNvSpPr txBox="1"/>
          <p:nvPr/>
        </p:nvSpPr>
        <p:spPr>
          <a:xfrm>
            <a:off x="594360" y="129844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Optimisers</a:t>
            </a:r>
            <a:endParaRPr lang="en-US" sz="1400" dirty="0"/>
          </a:p>
        </p:txBody>
      </p:sp>
      <p:sp>
        <p:nvSpPr>
          <p:cNvPr id="5" name="Text 3"/>
          <p:cNvSpPr txBox="1"/>
          <p:nvPr/>
        </p:nvSpPr>
        <p:spPr>
          <a:xfrm>
            <a:off x="594360" y="164592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greedy, local search, annealing</a:t>
            </a:r>
            <a:endParaRPr lang="en-US" sz="1100" dirty="0"/>
          </a:p>
        </p:txBody>
      </p:sp>
      <p:sp>
        <p:nvSpPr>
          <p:cNvPr id="6" name="built1"/>
          <p:cNvSpPr/>
          <p:nvPr/>
        </p:nvSpPr>
        <p:spPr>
          <a:xfrm>
            <a:off x="2542032" y="1188720"/>
            <a:ext cx="1920240" cy="960120"/>
          </a:xfrm>
          <a:prstGeom prst="roundRect">
            <a:avLst>
              <a:gd name="adj" fmla="val 7619"/>
            </a:avLst>
          </a:prstGeom>
          <a:solidFill>
            <a:srgbClr val="F4F6FA"/>
          </a:solidFill>
          <a:ln w="12700">
            <a:solidFill>
              <a:srgbClr val="F4F6FA"/>
            </a:solidFill>
            <a:prstDash val="solid"/>
          </a:ln>
        </p:spPr>
      </p:sp>
      <p:sp>
        <p:nvSpPr>
          <p:cNvPr id="7" name="Text 5"/>
          <p:cNvSpPr txBox="1"/>
          <p:nvPr/>
        </p:nvSpPr>
        <p:spPr>
          <a:xfrm>
            <a:off x="2679192" y="129844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Exact solver</a:t>
            </a:r>
            <a:endParaRPr lang="en-US" sz="1400" dirty="0"/>
          </a:p>
        </p:txBody>
      </p:sp>
      <p:sp>
        <p:nvSpPr>
          <p:cNvPr id="8" name="Text 6"/>
          <p:cNvSpPr txBox="1"/>
          <p:nvPr/>
        </p:nvSpPr>
        <p:spPr>
          <a:xfrm>
            <a:off x="2679192" y="164592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MILP with proven dual bound</a:t>
            </a:r>
            <a:endParaRPr lang="en-US" sz="1100" dirty="0"/>
          </a:p>
        </p:txBody>
      </p:sp>
      <p:sp>
        <p:nvSpPr>
          <p:cNvPr id="9" name="built2"/>
          <p:cNvSpPr/>
          <p:nvPr/>
        </p:nvSpPr>
        <p:spPr>
          <a:xfrm>
            <a:off x="4626864" y="1188720"/>
            <a:ext cx="1920240" cy="960120"/>
          </a:xfrm>
          <a:prstGeom prst="roundRect">
            <a:avLst>
              <a:gd name="adj" fmla="val 7619"/>
            </a:avLst>
          </a:prstGeom>
          <a:solidFill>
            <a:srgbClr val="F4F6FA"/>
          </a:solidFill>
          <a:ln w="12700">
            <a:solidFill>
              <a:srgbClr val="F4F6FA"/>
            </a:solidFill>
            <a:prstDash val="solid"/>
          </a:ln>
        </p:spPr>
      </p:sp>
      <p:sp>
        <p:nvSpPr>
          <p:cNvPr id="10" name="Text 8"/>
          <p:cNvSpPr txBox="1"/>
          <p:nvPr/>
        </p:nvSpPr>
        <p:spPr>
          <a:xfrm>
            <a:off x="4764024" y="129844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QUBO solver</a:t>
            </a:r>
            <a:endParaRPr lang="en-US" sz="1400" dirty="0"/>
          </a:p>
        </p:txBody>
      </p:sp>
      <p:sp>
        <p:nvSpPr>
          <p:cNvPr id="11" name="Text 9"/>
          <p:cNvSpPr txBox="1"/>
          <p:nvPr/>
        </p:nvSpPr>
        <p:spPr>
          <a:xfrm>
            <a:off x="4764024" y="164592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dwave-samplers (D-Wave interface)</a:t>
            </a:r>
            <a:endParaRPr lang="en-US" sz="1100" dirty="0"/>
          </a:p>
        </p:txBody>
      </p:sp>
      <p:sp>
        <p:nvSpPr>
          <p:cNvPr id="12" name="built3"/>
          <p:cNvSpPr/>
          <p:nvPr/>
        </p:nvSpPr>
        <p:spPr>
          <a:xfrm>
            <a:off x="6711696" y="1188720"/>
            <a:ext cx="1920240" cy="960120"/>
          </a:xfrm>
          <a:prstGeom prst="roundRect">
            <a:avLst>
              <a:gd name="adj" fmla="val 7619"/>
            </a:avLst>
          </a:prstGeom>
          <a:solidFill>
            <a:srgbClr val="F4F6FA"/>
          </a:solidFill>
          <a:ln w="12700">
            <a:solidFill>
              <a:srgbClr val="F4F6FA"/>
            </a:solidFill>
            <a:prstDash val="solid"/>
          </a:ln>
        </p:spPr>
      </p:sp>
      <p:sp>
        <p:nvSpPr>
          <p:cNvPr id="13" name="Text 11"/>
          <p:cNvSpPr txBox="1"/>
          <p:nvPr/>
        </p:nvSpPr>
        <p:spPr>
          <a:xfrm>
            <a:off x="6848856" y="129844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Science objective</a:t>
            </a:r>
            <a:endParaRPr lang="en-US" sz="1400" dirty="0"/>
          </a:p>
        </p:txBody>
      </p:sp>
      <p:sp>
        <p:nvSpPr>
          <p:cNvPr id="14" name="Text 12"/>
          <p:cNvSpPr txBox="1"/>
          <p:nvPr/>
        </p:nvSpPr>
        <p:spPr>
          <a:xfrm>
            <a:off x="6848856" y="164592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Fisher information on a real source</a:t>
            </a:r>
            <a:endParaRPr lang="en-US" sz="1100" dirty="0"/>
          </a:p>
        </p:txBody>
      </p:sp>
      <p:sp>
        <p:nvSpPr>
          <p:cNvPr id="15" name="built4"/>
          <p:cNvSpPr/>
          <p:nvPr/>
        </p:nvSpPr>
        <p:spPr>
          <a:xfrm>
            <a:off x="457200" y="2286000"/>
            <a:ext cx="1920240" cy="960120"/>
          </a:xfrm>
          <a:prstGeom prst="roundRect">
            <a:avLst>
              <a:gd name="adj" fmla="val 7619"/>
            </a:avLst>
          </a:prstGeom>
          <a:solidFill>
            <a:srgbClr val="F4F6FA"/>
          </a:solidFill>
          <a:ln w="12700">
            <a:solidFill>
              <a:srgbClr val="F4F6FA"/>
            </a:solidFill>
            <a:prstDash val="solid"/>
          </a:ln>
        </p:spPr>
      </p:sp>
      <p:sp>
        <p:nvSpPr>
          <p:cNvPr id="16" name="Text 14"/>
          <p:cNvSpPr txBox="1"/>
          <p:nvPr/>
        </p:nvSpPr>
        <p:spPr>
          <a:xfrm>
            <a:off x="594360" y="239572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Imaging</a:t>
            </a:r>
            <a:endParaRPr lang="en-US" sz="1400" dirty="0"/>
          </a:p>
        </p:txBody>
      </p:sp>
      <p:sp>
        <p:nvSpPr>
          <p:cNvPr id="17" name="Text 15"/>
          <p:cNvSpPr txBox="1"/>
          <p:nvPr/>
        </p:nvSpPr>
        <p:spPr>
          <a:xfrm>
            <a:off x="594360" y="274320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sky &gt; visibilities &gt; CLEAN &gt; compare</a:t>
            </a:r>
            <a:endParaRPr lang="en-US" sz="1100" dirty="0"/>
          </a:p>
        </p:txBody>
      </p:sp>
      <p:sp>
        <p:nvSpPr>
          <p:cNvPr id="18" name="built5"/>
          <p:cNvSpPr/>
          <p:nvPr/>
        </p:nvSpPr>
        <p:spPr>
          <a:xfrm>
            <a:off x="2542032" y="2286000"/>
            <a:ext cx="1920240" cy="960120"/>
          </a:xfrm>
          <a:prstGeom prst="roundRect">
            <a:avLst>
              <a:gd name="adj" fmla="val 7619"/>
            </a:avLst>
          </a:prstGeom>
          <a:solidFill>
            <a:srgbClr val="F4F6FA"/>
          </a:solidFill>
          <a:ln w="12700">
            <a:solidFill>
              <a:srgbClr val="F4F6FA"/>
            </a:solidFill>
            <a:prstDash val="solid"/>
          </a:ln>
        </p:spPr>
      </p:sp>
      <p:sp>
        <p:nvSpPr>
          <p:cNvPr id="19" name="Text 17"/>
          <p:cNvSpPr txBox="1"/>
          <p:nvPr/>
        </p:nvSpPr>
        <p:spPr>
          <a:xfrm>
            <a:off x="2679192" y="239572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Instrument model</a:t>
            </a:r>
            <a:endParaRPr lang="en-US" sz="1400" dirty="0"/>
          </a:p>
        </p:txBody>
      </p:sp>
      <p:sp>
        <p:nvSpPr>
          <p:cNvPr id="20" name="Text 18"/>
          <p:cNvSpPr txBox="1"/>
          <p:nvPr/>
        </p:nvSpPr>
        <p:spPr>
          <a:xfrm>
            <a:off x="2679192" y="274320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primary beam, smearing, mJy</a:t>
            </a:r>
            <a:endParaRPr lang="en-US" sz="1100" dirty="0"/>
          </a:p>
        </p:txBody>
      </p:sp>
      <p:sp>
        <p:nvSpPr>
          <p:cNvPr id="21" name="built6"/>
          <p:cNvSpPr/>
          <p:nvPr/>
        </p:nvSpPr>
        <p:spPr>
          <a:xfrm>
            <a:off x="4626864" y="2286000"/>
            <a:ext cx="1920240" cy="960120"/>
          </a:xfrm>
          <a:prstGeom prst="roundRect">
            <a:avLst>
              <a:gd name="adj" fmla="val 7619"/>
            </a:avLst>
          </a:prstGeom>
          <a:solidFill>
            <a:srgbClr val="F4F6FA"/>
          </a:solidFill>
          <a:ln w="12700">
            <a:solidFill>
              <a:srgbClr val="F4F6FA"/>
            </a:solidFill>
            <a:prstDash val="solid"/>
          </a:ln>
        </p:spPr>
      </p:sp>
      <p:sp>
        <p:nvSpPr>
          <p:cNvPr id="22" name="Text 20"/>
          <p:cNvSpPr txBox="1"/>
          <p:nvPr/>
        </p:nvSpPr>
        <p:spPr>
          <a:xfrm>
            <a:off x="4764024" y="239572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Site design</a:t>
            </a:r>
            <a:endParaRPr lang="en-US" sz="1400" dirty="0"/>
          </a:p>
        </p:txBody>
      </p:sp>
      <p:sp>
        <p:nvSpPr>
          <p:cNvPr id="23" name="Text 21"/>
          <p:cNvSpPr txBox="1"/>
          <p:nvPr/>
        </p:nvSpPr>
        <p:spPr>
          <a:xfrm>
            <a:off x="4764024" y="274320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terrain-constrained Ladakh pads</a:t>
            </a:r>
            <a:endParaRPr lang="en-US" sz="1100" dirty="0"/>
          </a:p>
        </p:txBody>
      </p:sp>
      <p:sp>
        <p:nvSpPr>
          <p:cNvPr id="24" name="built7"/>
          <p:cNvSpPr/>
          <p:nvPr/>
        </p:nvSpPr>
        <p:spPr>
          <a:xfrm>
            <a:off x="6711696" y="2286000"/>
            <a:ext cx="1920240" cy="960120"/>
          </a:xfrm>
          <a:prstGeom prst="roundRect">
            <a:avLst>
              <a:gd name="adj" fmla="val 7619"/>
            </a:avLst>
          </a:prstGeom>
          <a:solidFill>
            <a:srgbClr val="F4F6FA"/>
          </a:solidFill>
          <a:ln w="12700">
            <a:solidFill>
              <a:srgbClr val="F4F6FA"/>
            </a:solidFill>
            <a:prstDash val="solid"/>
          </a:ln>
        </p:spPr>
      </p:sp>
      <p:sp>
        <p:nvSpPr>
          <p:cNvPr id="25" name="Text 23"/>
          <p:cNvSpPr txBox="1"/>
          <p:nvPr/>
        </p:nvSpPr>
        <p:spPr>
          <a:xfrm>
            <a:off x="6848856" y="2395728"/>
            <a:ext cx="16459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CLI tool</a:t>
            </a:r>
            <a:endParaRPr lang="en-US" sz="1400" dirty="0"/>
          </a:p>
        </p:txBody>
      </p:sp>
      <p:sp>
        <p:nvSpPr>
          <p:cNvPr id="26" name="Text 24"/>
          <p:cNvSpPr txBox="1"/>
          <p:nvPr/>
        </p:nvSpPr>
        <p:spPr>
          <a:xfrm>
            <a:off x="6848856" y="2743200"/>
            <a:ext cx="164592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pad coordinates in seconds</a:t>
            </a:r>
            <a:endParaRPr lang="en-US" sz="1100" dirty="0"/>
          </a:p>
        </p:txBody>
      </p:sp>
      <p:sp>
        <p:nvSpPr>
          <p:cNvPr id="27" name="Text 25"/>
          <p:cNvSpPr txBox="1"/>
          <p:nvPr/>
        </p:nvSpPr>
        <p:spPr>
          <a:xfrm>
            <a:off x="457200" y="3520440"/>
            <a:ext cx="1920240" cy="73152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272</a:t>
            </a:r>
            <a:endParaRPr lang="en-US" sz="4000" dirty="0"/>
          </a:p>
        </p:txBody>
      </p:sp>
      <p:sp>
        <p:nvSpPr>
          <p:cNvPr id="28" name="Text 26"/>
          <p:cNvSpPr txBox="1"/>
          <p:nvPr/>
        </p:nvSpPr>
        <p:spPr>
          <a:xfrm>
            <a:off x="457200" y="4251960"/>
            <a:ext cx="192024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automated tests</a:t>
            </a:r>
            <a:endParaRPr lang="en-US" sz="1200" dirty="0"/>
          </a:p>
        </p:txBody>
      </p:sp>
      <p:sp>
        <p:nvSpPr>
          <p:cNvPr id="29" name="Text 27"/>
          <p:cNvSpPr txBox="1"/>
          <p:nvPr/>
        </p:nvSpPr>
        <p:spPr>
          <a:xfrm>
            <a:off x="2542032" y="3520440"/>
            <a:ext cx="192024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17</a:t>
            </a:r>
            <a:endParaRPr lang="en-US" sz="4000" dirty="0"/>
          </a:p>
        </p:txBody>
      </p:sp>
      <p:sp>
        <p:nvSpPr>
          <p:cNvPr id="30" name="Text 28"/>
          <p:cNvSpPr txBox="1"/>
          <p:nvPr/>
        </p:nvSpPr>
        <p:spPr>
          <a:xfrm>
            <a:off x="2542032" y="4251960"/>
            <a:ext cx="192024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experiments</a:t>
            </a:r>
            <a:endParaRPr lang="en-US" sz="1200" dirty="0"/>
          </a:p>
        </p:txBody>
      </p:sp>
      <p:sp>
        <p:nvSpPr>
          <p:cNvPr id="31" name="Text 29"/>
          <p:cNvSpPr txBox="1"/>
          <p:nvPr/>
        </p:nvSpPr>
        <p:spPr>
          <a:xfrm>
            <a:off x="4626864" y="3520440"/>
            <a:ext cx="192024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56</a:t>
            </a:r>
            <a:endParaRPr lang="en-US" sz="4000" dirty="0"/>
          </a:p>
        </p:txBody>
      </p:sp>
      <p:sp>
        <p:nvSpPr>
          <p:cNvPr id="32" name="Text 30"/>
          <p:cNvSpPr txBox="1"/>
          <p:nvPr/>
        </p:nvSpPr>
        <p:spPr>
          <a:xfrm>
            <a:off x="4626864" y="4251960"/>
            <a:ext cx="192024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modules</a:t>
            </a:r>
            <a:endParaRPr lang="en-US" sz="1200" dirty="0"/>
          </a:p>
        </p:txBody>
      </p:sp>
      <p:sp>
        <p:nvSpPr>
          <p:cNvPr id="33" name="Text 31"/>
          <p:cNvSpPr txBox="1"/>
          <p:nvPr/>
        </p:nvSpPr>
        <p:spPr>
          <a:xfrm>
            <a:off x="6711696" y="3520440"/>
            <a:ext cx="192024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47</a:t>
            </a:r>
            <a:endParaRPr lang="en-US" sz="4000" dirty="0"/>
          </a:p>
        </p:txBody>
      </p:sp>
      <p:sp>
        <p:nvSpPr>
          <p:cNvPr id="34" name="Text 32"/>
          <p:cNvSpPr txBox="1"/>
          <p:nvPr/>
        </p:nvSpPr>
        <p:spPr>
          <a:xfrm>
            <a:off x="6711696" y="4251960"/>
            <a:ext cx="192024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commits</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Finding 1: the QUBO formulation is correct</a:t>
            </a:r>
            <a:endParaRPr lang="en-US" sz="2800" dirty="0"/>
          </a:p>
        </p:txBody>
      </p:sp>
      <p:sp>
        <p:nvSpPr>
          <p:cNvPr id="3" name="Text 1"/>
          <p:cNvSpPr txBox="1"/>
          <p:nvPr/>
        </p:nvSpPr>
        <p:spPr>
          <a:xfrm>
            <a:off x="457200" y="1143000"/>
            <a:ext cx="8229600" cy="365760"/>
          </a:xfrm>
          <a:prstGeom prst="rect">
            <a:avLst/>
          </a:prstGeom>
          <a:noFill/>
          <a:ln/>
        </p:spPr>
        <p:txBody>
          <a:bodyPr wrap="square" lIns="0" tIns="0" rIns="0" bIns="0" rtlCol="0" anchor="ctr"/>
          <a:lstStyle/>
          <a:p>
            <a:pPr indent="0" marL="0">
              <a:buNone/>
            </a:pPr>
            <a:r>
              <a:rPr lang="en-US" sz="1400" dirty="0">
                <a:solidFill>
                  <a:srgbClr val="5B6B82"/>
                </a:solidFill>
                <a:latin typeface="Calibri" pitchFamily="34" charset="0"/>
                <a:ea typeface="Calibri" pitchFamily="34" charset="-122"/>
                <a:cs typeface="Calibri" pitchFamily="34" charset="-120"/>
              </a:rPr>
              <a:t>Is the mathematics right? Checked exhaustively on a 16-pad instance of real ALMA geometry.</a:t>
            </a:r>
            <a:endParaRPr lang="en-US" sz="1400" dirty="0"/>
          </a:p>
        </p:txBody>
      </p:sp>
      <p:sp>
        <p:nvSpPr>
          <p:cNvPr id="4" name="s1"/>
          <p:cNvSpPr/>
          <p:nvPr/>
        </p:nvSpPr>
        <p:spPr>
          <a:xfrm>
            <a:off x="457200" y="1691640"/>
            <a:ext cx="2651760" cy="2377440"/>
          </a:xfrm>
          <a:prstGeom prst="roundRect">
            <a:avLst>
              <a:gd name="adj" fmla="val 3077"/>
            </a:avLst>
          </a:prstGeom>
          <a:solidFill>
            <a:srgbClr val="F4F6FA"/>
          </a:solidFill>
          <a:ln w="12700">
            <a:solidFill>
              <a:srgbClr val="F4F6FA"/>
            </a:solidFill>
            <a:prstDash val="solid"/>
          </a:ln>
        </p:spPr>
      </p:sp>
      <p:sp>
        <p:nvSpPr>
          <p:cNvPr id="5" name="Text 3"/>
          <p:cNvSpPr txBox="1"/>
          <p:nvPr/>
        </p:nvSpPr>
        <p:spPr>
          <a:xfrm>
            <a:off x="685800" y="2011680"/>
            <a:ext cx="228600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2,324</a:t>
            </a:r>
            <a:endParaRPr lang="en-US" sz="4000" dirty="0"/>
          </a:p>
        </p:txBody>
      </p:sp>
      <p:sp>
        <p:nvSpPr>
          <p:cNvPr id="6" name="Text 4"/>
          <p:cNvSpPr txBox="1"/>
          <p:nvPr/>
        </p:nvSpPr>
        <p:spPr>
          <a:xfrm>
            <a:off x="685800" y="2743200"/>
            <a:ext cx="228600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feasible selections enumerated - every one</a:t>
            </a:r>
            <a:endParaRPr lang="en-US" sz="1200" dirty="0"/>
          </a:p>
        </p:txBody>
      </p:sp>
      <p:sp>
        <p:nvSpPr>
          <p:cNvPr id="7" name="s2"/>
          <p:cNvSpPr/>
          <p:nvPr/>
        </p:nvSpPr>
        <p:spPr>
          <a:xfrm>
            <a:off x="3246120" y="1691640"/>
            <a:ext cx="2651760" cy="2377440"/>
          </a:xfrm>
          <a:prstGeom prst="roundRect">
            <a:avLst>
              <a:gd name="adj" fmla="val 3077"/>
            </a:avLst>
          </a:prstGeom>
          <a:solidFill>
            <a:srgbClr val="E3F2EF"/>
          </a:solidFill>
          <a:ln w="12700">
            <a:solidFill>
              <a:srgbClr val="E3F2EF"/>
            </a:solidFill>
            <a:prstDash val="solid"/>
          </a:ln>
        </p:spPr>
      </p:sp>
      <p:sp>
        <p:nvSpPr>
          <p:cNvPr id="8" name="Text 6"/>
          <p:cNvSpPr txBox="1"/>
          <p:nvPr/>
        </p:nvSpPr>
        <p:spPr>
          <a:xfrm>
            <a:off x="3474720" y="2011680"/>
            <a:ext cx="2286000" cy="73152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0 cells</a:t>
            </a:r>
            <a:endParaRPr lang="en-US" sz="4000" dirty="0"/>
          </a:p>
        </p:txBody>
      </p:sp>
      <p:sp>
        <p:nvSpPr>
          <p:cNvPr id="9" name="Text 7"/>
          <p:cNvSpPr txBox="1"/>
          <p:nvPr/>
        </p:nvSpPr>
        <p:spPr>
          <a:xfrm>
            <a:off x="3474720" y="2743200"/>
            <a:ext cx="228600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formulation gap: QUBO optimum = true optimum</a:t>
            </a:r>
            <a:endParaRPr lang="en-US" sz="1200" dirty="0"/>
          </a:p>
        </p:txBody>
      </p:sp>
      <p:sp>
        <p:nvSpPr>
          <p:cNvPr id="10" name="s3"/>
          <p:cNvSpPr/>
          <p:nvPr/>
        </p:nvSpPr>
        <p:spPr>
          <a:xfrm>
            <a:off x="6035040" y="1691640"/>
            <a:ext cx="2651760" cy="2377440"/>
          </a:xfrm>
          <a:prstGeom prst="roundRect">
            <a:avLst>
              <a:gd name="adj" fmla="val 3077"/>
            </a:avLst>
          </a:prstGeom>
          <a:solidFill>
            <a:srgbClr val="F4F6FA"/>
          </a:solidFill>
          <a:ln w="12700">
            <a:solidFill>
              <a:srgbClr val="F4F6FA"/>
            </a:solidFill>
            <a:prstDash val="solid"/>
          </a:ln>
        </p:spPr>
      </p:sp>
      <p:sp>
        <p:nvSpPr>
          <p:cNvPr id="11" name="Text 9"/>
          <p:cNvSpPr txBox="1"/>
          <p:nvPr/>
        </p:nvSpPr>
        <p:spPr>
          <a:xfrm>
            <a:off x="6263640" y="2011680"/>
            <a:ext cx="228600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0.929</a:t>
            </a:r>
            <a:endParaRPr lang="en-US" sz="4000" dirty="0"/>
          </a:p>
        </p:txBody>
      </p:sp>
      <p:sp>
        <p:nvSpPr>
          <p:cNvPr id="12" name="Text 10"/>
          <p:cNvSpPr txBox="1"/>
          <p:nvPr/>
        </p:nvSpPr>
        <p:spPr>
          <a:xfrm>
            <a:off x="6263640" y="2743200"/>
            <a:ext cx="228600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correlation, QUBO score vs true coverage</a:t>
            </a:r>
            <a:endParaRPr lang="en-US" sz="1200" dirty="0"/>
          </a:p>
        </p:txBody>
      </p:sp>
      <p:sp>
        <p:nvSpPr>
          <p:cNvPr id="13" name="Text 11"/>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Whatever happens next is about the solver, not the mathematics.</a:t>
            </a:r>
            <a:endParaRPr lang="en-US" sz="15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Finding 1: but the QUBO route loses</a:t>
            </a:r>
            <a:endParaRPr lang="en-US" sz="2800" dirty="0"/>
          </a:p>
        </p:txBody>
      </p:sp>
      <p:graphicFrame>
        <p:nvGraphicFramePr>
          <p:cNvPr id="3" name="Chart 0" descr=""/>
          <p:cNvGraphicFramePr/>
          <p:nvPr/>
        </p:nvGraphicFramePr>
        <p:xfrm>
          <a:off x="457200" y="10972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speed"/>
          <p:cNvSpPr/>
          <p:nvPr/>
        </p:nvSpPr>
        <p:spPr>
          <a:xfrm>
            <a:off x="5852160" y="1097280"/>
            <a:ext cx="2834640" cy="1463040"/>
          </a:xfrm>
          <a:prstGeom prst="roundRect">
            <a:avLst>
              <a:gd name="adj" fmla="val 5000"/>
            </a:avLst>
          </a:prstGeom>
          <a:solidFill>
            <a:srgbClr val="0B1D3A"/>
          </a:solidFill>
          <a:ln w="12700">
            <a:solidFill>
              <a:srgbClr val="0B1D3A"/>
            </a:solidFill>
            <a:prstDash val="solid"/>
          </a:ln>
        </p:spPr>
      </p:sp>
      <p:sp>
        <p:nvSpPr>
          <p:cNvPr id="5" name="Text 2"/>
          <p:cNvSpPr txBox="1"/>
          <p:nvPr/>
        </p:nvSpPr>
        <p:spPr>
          <a:xfrm>
            <a:off x="6035040" y="1188720"/>
            <a:ext cx="2560320" cy="731520"/>
          </a:xfrm>
          <a:prstGeom prst="rect">
            <a:avLst/>
          </a:prstGeom>
          <a:noFill/>
          <a:ln/>
        </p:spPr>
        <p:txBody>
          <a:bodyPr wrap="square" lIns="0" tIns="0" rIns="0" bIns="0" rtlCol="0" anchor="ctr"/>
          <a:lstStyle/>
          <a:p>
            <a:pPr indent="0" marL="0">
              <a:buNone/>
            </a:pPr>
            <a:r>
              <a:rPr lang="en-US" sz="3800" b="1" dirty="0">
                <a:solidFill>
                  <a:srgbClr val="F2A541"/>
                </a:solidFill>
                <a:latin typeface="Cambria" pitchFamily="34" charset="0"/>
                <a:ea typeface="Cambria" pitchFamily="34" charset="-122"/>
                <a:cs typeface="Cambria" pitchFamily="34" charset="-120"/>
              </a:rPr>
              <a:t>35-72x</a:t>
            </a:r>
            <a:endParaRPr lang="en-US" sz="3800" dirty="0"/>
          </a:p>
        </p:txBody>
      </p:sp>
      <p:sp>
        <p:nvSpPr>
          <p:cNvPr id="6" name="Text 3"/>
          <p:cNvSpPr txBox="1"/>
          <p:nvPr/>
        </p:nvSpPr>
        <p:spPr>
          <a:xfrm>
            <a:off x="6035040" y="1920240"/>
            <a:ext cx="256032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faster: classical takes &lt;0.4 s, annealing 3-35 s</a:t>
            </a:r>
            <a:endParaRPr lang="en-US" sz="1200" dirty="0"/>
          </a:p>
        </p:txBody>
      </p:sp>
      <p:sp>
        <p:nvSpPr>
          <p:cNvPr id="7" name="Text 4"/>
          <p:cNvSpPr txBox="1"/>
          <p:nvPr/>
        </p:nvSpPr>
        <p:spPr>
          <a:xfrm>
            <a:off x="5852160" y="2743200"/>
            <a:ext cx="2834640" cy="18288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B2A41"/>
                </a:solidFill>
                <a:latin typeface="Calibri" pitchFamily="34" charset="0"/>
                <a:ea typeface="Calibri" pitchFamily="34" charset="-122"/>
                <a:cs typeface="Calibri" pitchFamily="34" charset="-120"/>
              </a:rPr>
              <a:t>Every annealing sample was feasible - not a tuning failure</a:t>
            </a:r>
            <a:endParaRPr lang="en-US" sz="1200" dirty="0"/>
          </a:p>
          <a:p>
            <a:pPr marL="342900" indent="-342900">
              <a:spcAft>
                <a:spcPts val="500"/>
              </a:spcAft>
              <a:buSzPct val="100000"/>
              <a:buChar char="•"/>
            </a:pPr>
            <a:r>
              <a:rPr lang="en-US" sz="1200" dirty="0">
                <a:solidFill>
                  <a:srgbClr val="1B2A41"/>
                </a:solidFill>
                <a:latin typeface="Calibri" pitchFamily="34" charset="0"/>
                <a:ea typeface="Calibri" pitchFamily="34" charset="-122"/>
                <a:cs typeface="Calibri" pitchFamily="34" charset="-120"/>
              </a:rPr>
              <a:t>Gap widens with problem size</a:t>
            </a:r>
            <a:endParaRPr lang="en-US" sz="1200" dirty="0"/>
          </a:p>
          <a:p>
            <a:pPr marL="342900" indent="-342900">
              <a:spcAft>
                <a:spcPts val="500"/>
              </a:spcAft>
              <a:buSzPct val="100000"/>
              <a:buChar char="•"/>
            </a:pPr>
            <a:r>
              <a:rPr lang="en-US" sz="1200" dirty="0">
                <a:solidFill>
                  <a:srgbClr val="1B2A41"/>
                </a:solidFill>
                <a:latin typeface="Calibri" pitchFamily="34" charset="0"/>
                <a:ea typeface="Calibri" pitchFamily="34" charset="-122"/>
                <a:cs typeface="Calibri" pitchFamily="34" charset="-120"/>
              </a:rPr>
              <a:t>40 pads already = 820 variables, 33,689 couplings</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Finding 2: the golden ratio is not the point</a:t>
            </a:r>
            <a:endParaRPr lang="en-US" sz="2800" dirty="0"/>
          </a:p>
        </p:txBody>
      </p:sp>
      <p:sp>
        <p:nvSpPr>
          <p:cNvPr id="3" name="Text 1"/>
          <p:cNvSpPr txBox="1"/>
          <p:nvPr/>
        </p:nvSpPr>
        <p:spPr>
          <a:xfrm>
            <a:off x="457200" y="1097280"/>
            <a:ext cx="4206240" cy="868680"/>
          </a:xfrm>
          <a:prstGeom prst="rect">
            <a:avLst/>
          </a:prstGeom>
          <a:noFill/>
          <a:ln/>
        </p:spPr>
        <p:txBody>
          <a:bodyPr wrap="square" lIns="0" tIns="0" rIns="0" bIns="0" rtlCol="0" anchor="ctr"/>
          <a:lstStyle/>
          <a:p>
            <a:pPr indent="0" marL="0">
              <a:buNone/>
            </a:pPr>
            <a:r>
              <a:rPr lang="en-US" sz="1300" dirty="0">
                <a:solidFill>
                  <a:srgbClr val="5B6B82"/>
                </a:solidFill>
                <a:latin typeface="Calibri" pitchFamily="34" charset="0"/>
                <a:ea typeface="Calibri" pitchFamily="34" charset="-122"/>
                <a:cs typeface="Calibri" pitchFamily="34" charset="-120"/>
              </a:rPr>
              <a:t>Named layouts change two things at once - how radius grows and how angle advances. So I crossed 5 radial laws x 5 angular laws, everything else fixed.</a:t>
            </a:r>
            <a:endParaRPr lang="en-US" sz="1300" dirty="0"/>
          </a:p>
        </p:txBody>
      </p:sp>
      <p:graphicFrame>
        <p:nvGraphicFramePr>
          <p:cNvPr id="4" name="Chart 0" descr=""/>
          <p:cNvGraphicFramePr/>
          <p:nvPr/>
        </p:nvGraphicFramePr>
        <p:xfrm>
          <a:off x="365760" y="1965960"/>
          <a:ext cx="4297680" cy="2743200"/>
        </p:xfrm>
        <a:graphic xmlns:a="http://schemas.openxmlformats.org/drawingml/2006/main">
          <a:graphicData uri="http://schemas.openxmlformats.org/drawingml/2006/chart">
            <c:chart xmlns:c="http://schemas.openxmlformats.org/drawingml/2006/chart" r:id="rId1"/>
          </a:graphicData>
        </a:graphic>
      </p:graphicFrame>
      <p:sp>
        <p:nvSpPr>
          <p:cNvPr id="5" name="r1"/>
          <p:cNvSpPr/>
          <p:nvPr/>
        </p:nvSpPr>
        <p:spPr>
          <a:xfrm>
            <a:off x="4937760" y="1097280"/>
            <a:ext cx="3749040" cy="1600200"/>
          </a:xfrm>
          <a:prstGeom prst="roundRect">
            <a:avLst>
              <a:gd name="adj" fmla="val 4571"/>
            </a:avLst>
          </a:prstGeom>
          <a:solidFill>
            <a:srgbClr val="F4F6FA"/>
          </a:solidFill>
          <a:ln w="12700">
            <a:solidFill>
              <a:srgbClr val="F4F6FA"/>
            </a:solidFill>
            <a:prstDash val="solid"/>
          </a:ln>
        </p:spPr>
      </p:sp>
      <p:sp>
        <p:nvSpPr>
          <p:cNvPr id="6" name="Text 3"/>
          <p:cNvSpPr txBox="1"/>
          <p:nvPr/>
        </p:nvSpPr>
        <p:spPr>
          <a:xfrm>
            <a:off x="5166360" y="1234440"/>
            <a:ext cx="329184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2.7x</a:t>
            </a:r>
            <a:endParaRPr lang="en-US" sz="4000" dirty="0"/>
          </a:p>
        </p:txBody>
      </p:sp>
      <p:sp>
        <p:nvSpPr>
          <p:cNvPr id="7" name="Text 4"/>
          <p:cNvSpPr txBox="1"/>
          <p:nvPr/>
        </p:nvSpPr>
        <p:spPr>
          <a:xfrm>
            <a:off x="5166360" y="1965960"/>
            <a:ext cx="329184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uniform-in-area vs Gaussian radial profile</a:t>
            </a:r>
            <a:endParaRPr lang="en-US" sz="1200" dirty="0"/>
          </a:p>
        </p:txBody>
      </p:sp>
      <p:sp>
        <p:nvSpPr>
          <p:cNvPr id="8" name="r2"/>
          <p:cNvSpPr/>
          <p:nvPr/>
        </p:nvSpPr>
        <p:spPr>
          <a:xfrm>
            <a:off x="4937760" y="2834640"/>
            <a:ext cx="3749040" cy="1600200"/>
          </a:xfrm>
          <a:prstGeom prst="roundRect">
            <a:avLst>
              <a:gd name="adj" fmla="val 4571"/>
            </a:avLst>
          </a:prstGeom>
          <a:solidFill>
            <a:srgbClr val="FDF1DF"/>
          </a:solidFill>
          <a:ln w="12700">
            <a:solidFill>
              <a:srgbClr val="FDF1DF"/>
            </a:solidFill>
            <a:prstDash val="solid"/>
          </a:ln>
        </p:spPr>
      </p:sp>
      <p:sp>
        <p:nvSpPr>
          <p:cNvPr id="9" name="Text 6"/>
          <p:cNvSpPr txBox="1"/>
          <p:nvPr/>
        </p:nvSpPr>
        <p:spPr>
          <a:xfrm>
            <a:off x="5166360" y="2971800"/>
            <a:ext cx="3291840" cy="731520"/>
          </a:xfrm>
          <a:prstGeom prst="rect">
            <a:avLst/>
          </a:prstGeom>
          <a:noFill/>
          <a:ln/>
        </p:spPr>
        <p:txBody>
          <a:bodyPr wrap="square" lIns="0" tIns="0" rIns="0" bIns="0" rtlCol="0" anchor="ctr"/>
          <a:lstStyle/>
          <a:p>
            <a:pPr indent="0" marL="0">
              <a:buNone/>
            </a:pPr>
            <a:r>
              <a:rPr lang="en-US" sz="4000" b="1" dirty="0">
                <a:solidFill>
                  <a:srgbClr val="F2A541"/>
                </a:solidFill>
                <a:latin typeface="Cambria" pitchFamily="34" charset="0"/>
                <a:ea typeface="Cambria" pitchFamily="34" charset="-122"/>
                <a:cs typeface="Cambria" pitchFamily="34" charset="-120"/>
              </a:rPr>
              <a:t>2.5%</a:t>
            </a:r>
            <a:endParaRPr lang="en-US" sz="4000" dirty="0"/>
          </a:p>
        </p:txBody>
      </p:sp>
      <p:sp>
        <p:nvSpPr>
          <p:cNvPr id="10" name="Text 7"/>
          <p:cNvSpPr txBox="1"/>
          <p:nvPr/>
        </p:nvSpPr>
        <p:spPr>
          <a:xfrm>
            <a:off x="5166360" y="3703320"/>
            <a:ext cx="329184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golden angle vs a degenerate 5-bearing angle</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Finding 3: Hanle versus the onboarding note</a:t>
            </a:r>
            <a:endParaRPr lang="en-US" sz="2800" dirty="0"/>
          </a:p>
        </p:txBody>
      </p:sp>
      <p:sp>
        <p:nvSpPr>
          <p:cNvPr id="3" name="Text 1"/>
          <p:cNvSpPr txBox="1"/>
          <p:nvPr/>
        </p:nvSpPr>
        <p:spPr>
          <a:xfrm>
            <a:off x="457200" y="1097280"/>
            <a:ext cx="8229600" cy="457200"/>
          </a:xfrm>
          <a:prstGeom prst="rect">
            <a:avLst/>
          </a:prstGeom>
          <a:noFill/>
          <a:ln/>
        </p:spPr>
        <p:txBody>
          <a:bodyPr wrap="square" lIns="0" tIns="0" rIns="0" bIns="0" rtlCol="0" anchor="ctr"/>
          <a:lstStyle/>
          <a:p>
            <a:pPr indent="0" marL="0">
              <a:buNone/>
            </a:pPr>
            <a:r>
              <a:rPr lang="en-US" sz="1300" dirty="0">
                <a:solidFill>
                  <a:srgbClr val="5B6B82"/>
                </a:solidFill>
                <a:latin typeface="Calibri" pitchFamily="34" charset="0"/>
                <a:ea typeface="Calibri" pitchFamily="34" charset="-122"/>
                <a:cs typeface="Calibri" pitchFamily="34" charset="-120"/>
              </a:rPr>
              <a:t>The note: Hanle is 'a comparable high-altitude, low-PWV site' to ALMA. Measured against the note's own 1 mm threshold:</a:t>
            </a:r>
            <a:endParaRPr lang="en-US" sz="1300" dirty="0"/>
          </a:p>
        </p:txBody>
      </p:sp>
      <p:graphicFrame>
        <p:nvGraphicFramePr>
          <p:cNvPr id="4" name="Chart 0" descr=""/>
          <p:cNvGraphicFramePr/>
          <p:nvPr/>
        </p:nvGraphicFramePr>
        <p:xfrm>
          <a:off x="457200" y="1600200"/>
          <a:ext cx="5120640" cy="3063240"/>
        </p:xfrm>
        <a:graphic xmlns:a="http://schemas.openxmlformats.org/drawingml/2006/main">
          <a:graphicData uri="http://schemas.openxmlformats.org/drawingml/2006/chart">
            <c:chart xmlns:c="http://schemas.openxmlformats.org/drawingml/2006/chart" r:id="rId1"/>
          </a:graphicData>
        </a:graphic>
      </p:graphicFrame>
      <p:sp>
        <p:nvSpPr>
          <p:cNvPr id="5" name="frame"/>
          <p:cNvSpPr/>
          <p:nvPr/>
        </p:nvSpPr>
        <p:spPr>
          <a:xfrm>
            <a:off x="5852160" y="1600200"/>
            <a:ext cx="2834640" cy="3063240"/>
          </a:xfrm>
          <a:prstGeom prst="roundRect">
            <a:avLst>
              <a:gd name="adj" fmla="val 2581"/>
            </a:avLst>
          </a:prstGeom>
          <a:solidFill>
            <a:srgbClr val="F4F6FA"/>
          </a:solidFill>
          <a:ln w="12700">
            <a:solidFill>
              <a:srgbClr val="F4F6FA"/>
            </a:solidFill>
            <a:prstDash val="solid"/>
          </a:ln>
        </p:spPr>
      </p:sp>
      <p:sp>
        <p:nvSpPr>
          <p:cNvPr id="6" name="Text 3"/>
          <p:cNvSpPr txBox="1"/>
          <p:nvPr/>
        </p:nvSpPr>
        <p:spPr>
          <a:xfrm>
            <a:off x="6035040" y="1737360"/>
            <a:ext cx="2560320" cy="320040"/>
          </a:xfrm>
          <a:prstGeom prst="rect">
            <a:avLst/>
          </a:prstGeom>
          <a:noFill/>
          <a:ln/>
        </p:spPr>
        <p:txBody>
          <a:bodyPr wrap="square" lIns="0" tIns="0" rIns="0" bIns="0" rtlCol="0" anchor="ctr"/>
          <a:lstStyle/>
          <a:p>
            <a:pPr indent="0" marL="0">
              <a:buNone/>
            </a:pPr>
            <a:r>
              <a:rPr lang="en-US" sz="1300" b="1" dirty="0">
                <a:solidFill>
                  <a:srgbClr val="2A9D8F"/>
                </a:solidFill>
                <a:latin typeface="Calibri" pitchFamily="34" charset="0"/>
                <a:ea typeface="Calibri" pitchFamily="34" charset="-122"/>
                <a:cs typeface="Calibri" pitchFamily="34" charset="-120"/>
              </a:rPr>
              <a:t>NOT a rejection of Hanle</a:t>
            </a:r>
            <a:endParaRPr lang="en-US" sz="1300" dirty="0"/>
          </a:p>
        </p:txBody>
      </p:sp>
      <p:sp>
        <p:nvSpPr>
          <p:cNvPr id="7" name="Text 4"/>
          <p:cNvSpPr txBox="1"/>
          <p:nvPr/>
        </p:nvSpPr>
        <p:spPr>
          <a:xfrm>
            <a:off x="6035040" y="2103120"/>
            <a:ext cx="2560320" cy="18288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B2A41"/>
                </a:solidFill>
                <a:latin typeface="Calibri" pitchFamily="34" charset="0"/>
                <a:ea typeface="Calibri" pitchFamily="34" charset="-122"/>
                <a:cs typeface="Calibri" pitchFamily="34" charset="-120"/>
              </a:rPr>
              <a:t>Only candidate with road, power, observatory</a:t>
            </a:r>
            <a:endParaRPr lang="en-US" sz="1200" dirty="0"/>
          </a:p>
          <a:p>
            <a:pPr marL="342900" indent="-342900">
              <a:spcAft>
                <a:spcPts val="500"/>
              </a:spcAft>
              <a:buSzPct val="100000"/>
              <a:buChar char="•"/>
            </a:pPr>
            <a:r>
              <a:rPr lang="en-US" sz="1200" dirty="0">
                <a:solidFill>
                  <a:srgbClr val="1B2A41"/>
                </a:solidFill>
                <a:latin typeface="Calibri" pitchFamily="34" charset="0"/>
                <a:ea typeface="Calibri" pitchFamily="34" charset="-122"/>
                <a:cs typeface="Calibri" pitchFamily="34" charset="-120"/>
              </a:rPr>
              <a:t>Flattest ground: 15 m relief vs 57 m at site A</a:t>
            </a:r>
            <a:endParaRPr lang="en-US" sz="1200" dirty="0"/>
          </a:p>
          <a:p>
            <a:pPr marL="342900" indent="-342900">
              <a:spcAft>
                <a:spcPts val="500"/>
              </a:spcAft>
              <a:buSzPct val="100000"/>
              <a:buChar char="•"/>
            </a:pPr>
            <a:r>
              <a:rPr lang="en-US" sz="1200" dirty="0">
                <a:solidFill>
                  <a:srgbClr val="1B2A41"/>
                </a:solidFill>
                <a:latin typeface="Calibri" pitchFamily="34" charset="0"/>
                <a:ea typeface="Calibri" pitchFamily="34" charset="-122"/>
                <a:cs typeface="Calibri" pitchFamily="34" charset="-120"/>
              </a:rPr>
              <a:t>Argue it as infrastructure vs dryness - not parity with ALMA</a:t>
            </a:r>
            <a:endParaRPr lang="en-US" sz="1200" dirty="0"/>
          </a:p>
        </p:txBody>
      </p:sp>
      <p:sp>
        <p:nvSpPr>
          <p:cNvPr id="8" name="Text 5"/>
          <p:cNvSpPr txBox="1"/>
          <p:nvPr/>
        </p:nvSpPr>
        <p:spPr>
          <a:xfrm>
            <a:off x="6035040" y="4114800"/>
            <a:ext cx="2560320" cy="457200"/>
          </a:xfrm>
          <a:prstGeom prst="rect">
            <a:avLst/>
          </a:prstGeom>
          <a:noFill/>
          <a:ln/>
        </p:spPr>
        <p:txBody>
          <a:bodyPr wrap="square" lIns="0" tIns="0" rIns="0" bIns="0" rtlCol="0" anchor="ctr"/>
          <a:lstStyle/>
          <a:p>
            <a:pPr indent="0" marL="0">
              <a:buNone/>
            </a:pPr>
            <a:r>
              <a:rPr lang="en-US" sz="900" i="1" dirty="0">
                <a:solidFill>
                  <a:srgbClr val="5B6B82"/>
                </a:solidFill>
                <a:latin typeface="Calibri" pitchFamily="34" charset="0"/>
                <a:ea typeface="Calibri" pitchFamily="34" charset="-122"/>
                <a:cs typeface="Calibri" pitchFamily="34" charset="-120"/>
              </a:rPr>
              <a:t>Raghunath et al. 2026, arXiv:2604.13487 - 184 months of ERA5</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A real array design for Ladakh</a:t>
            </a:r>
            <a:endParaRPr lang="en-US" sz="2800" dirty="0"/>
          </a:p>
        </p:txBody>
      </p:sp>
      <p:pic>
        <p:nvPicPr>
          <p:cNvPr id="3" name="terrain" descr="D:\thz-quantum-optimization\ladakh_array_design\outputs\fig_hanle_extended_terrain.png">    </p:cNvPr>
          <p:cNvPicPr>
            <a:picLocks noChangeAspect="1"/>
          </p:cNvPicPr>
          <p:nvPr/>
        </p:nvPicPr>
        <p:blipFill>
          <a:blip r:embed="rId1"/>
          <a:stretch>
            <a:fillRect/>
          </a:stretch>
        </p:blipFill>
        <p:spPr>
          <a:xfrm>
            <a:off x="457200" y="1097280"/>
            <a:ext cx="4754880" cy="2053944"/>
          </a:xfrm>
          <a:prstGeom prst="rect">
            <a:avLst/>
          </a:prstGeom>
        </p:spPr>
      </p:pic>
      <p:sp>
        <p:nvSpPr>
          <p:cNvPr id="4" name="Text 1"/>
          <p:cNvSpPr txBox="1"/>
          <p:nvPr/>
        </p:nvSpPr>
        <p:spPr>
          <a:xfrm>
            <a:off x="457200" y="3200400"/>
            <a:ext cx="4754880" cy="274320"/>
          </a:xfrm>
          <a:prstGeom prst="rect">
            <a:avLst/>
          </a:prstGeom>
          <a:noFill/>
          <a:ln/>
        </p:spPr>
        <p:txBody>
          <a:bodyPr wrap="square" lIns="0" tIns="0" rIns="0" bIns="0" rtlCol="0" anchor="ctr"/>
          <a:lstStyle/>
          <a:p>
            <a:pPr indent="0" marL="0">
              <a:buNone/>
            </a:pPr>
            <a:r>
              <a:rPr lang="en-US" sz="1000" i="1" dirty="0">
                <a:solidFill>
                  <a:srgbClr val="5B6B82"/>
                </a:solidFill>
                <a:latin typeface="Calibri" pitchFamily="34" charset="0"/>
                <a:ea typeface="Calibri" pitchFamily="34" charset="-122"/>
                <a:cs typeface="Calibri" pitchFamily="34" charset="-120"/>
              </a:rPr>
              <a:t>Hanle terrain (left) and buildable ground with chosen pads (right)</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94960" y="1097280"/>
          <a:ext cx="3291840" cy="914400"/>
        </p:xfrm>
        <a:graphic>
          <a:graphicData uri="http://schemas.openxmlformats.org/drawingml/2006/table">
            <a:tbl>
              <a:tblPr/>
              <a:tblGrid>
                <a:gridCol w="822960"/>
                <a:gridCol w="777240"/>
                <a:gridCol w="868680"/>
                <a:gridCol w="822960"/>
              </a:tblGrid>
              <a:tr h="329184">
                <a:tc>
                  <a:txBody>
                    <a:bodyPr/>
                    <a:lstStyle/>
                    <a:p>
                      <a:pP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Compact</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Intermediate</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Extended</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r>
              <a:tr h="329184">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Baselines</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32-232 m</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64-878 m</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338-2,788 m</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29184">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Resolves to</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1.16"</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1B2A41"/>
                          </a:solidFill>
                          <a:latin typeface="Calibri" pitchFamily="34" charset="0"/>
                          <a:ea typeface="Calibri" pitchFamily="34" charset="-122"/>
                          <a:cs typeface="Calibri" pitchFamily="34" charset="-120"/>
                        </a:rPr>
                        <a:t>0.096"</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Sees up to</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000" b="1" dirty="0">
                          <a:solidFill>
                            <a:srgbClr val="1B2A41"/>
                          </a:solidFill>
                          <a:latin typeface="Calibri" pitchFamily="34" charset="0"/>
                          <a:ea typeface="Calibri" pitchFamily="34" charset="-122"/>
                          <a:cs typeface="Calibri" pitchFamily="34" charset="-120"/>
                        </a:rPr>
                        <a:t>5.01"</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0.48"</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29184">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Relief</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11 m</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9 m</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latin typeface="Calibri" pitchFamily="34" charset="0"/>
                          <a:ea typeface="Calibri" pitchFamily="34" charset="-122"/>
                          <a:cs typeface="Calibri" pitchFamily="34" charset="-120"/>
                        </a:rPr>
                        <a:t>15 m</a:t>
                      </a:r>
                      <a:endParaRPr lang="en-US" sz="10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394960" y="2880360"/>
            <a:ext cx="3291840" cy="118872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Continuous coverage 0.096" to 5.01" (52x)</a:t>
            </a:r>
            <a:endParaRPr lang="en-US" sz="1200" dirty="0"/>
          </a:p>
          <a:p>
            <a:pPr marL="342900" indent="-3429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Pad lat / long / elevation, CASA format</a:t>
            </a:r>
            <a:endParaRPr lang="en-US" sz="1200" dirty="0"/>
          </a:p>
          <a:p>
            <a:pPr marL="342900" indent="-3429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Centre moved 2,049 m off the summit onto the plain</a:t>
            </a:r>
            <a:endParaRPr lang="en-US" sz="1200" dirty="0"/>
          </a:p>
        </p:txBody>
      </p:sp>
      <p:sp>
        <p:nvSpPr>
          <p:cNvPr id="7" name="Text 3"/>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200" i="1" dirty="0">
                <a:solidFill>
                  <a:srgbClr val="C8553D"/>
                </a:solidFill>
                <a:latin typeface="Calibri" pitchFamily="34" charset="0"/>
                <a:ea typeface="Calibri" pitchFamily="34" charset="-122"/>
                <a:cs typeface="Calibri" pitchFamily="34" charset="-120"/>
              </a:rPr>
              <a:t>Preliminary geometry - not a construction plan (no land rights, roads, power).</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Replacing an invented score with a derived one</a:t>
            </a:r>
            <a:endParaRPr lang="en-US" sz="2800" dirty="0"/>
          </a:p>
        </p:txBody>
      </p:sp>
      <p:sp>
        <p:nvSpPr>
          <p:cNvPr id="3" name="prob"/>
          <p:cNvSpPr/>
          <p:nvPr/>
        </p:nvSpPr>
        <p:spPr>
          <a:xfrm>
            <a:off x="457200" y="1143000"/>
            <a:ext cx="3931920" cy="1280160"/>
          </a:xfrm>
          <a:prstGeom prst="roundRect">
            <a:avLst>
              <a:gd name="adj" fmla="val 5714"/>
            </a:avLst>
          </a:prstGeom>
          <a:solidFill>
            <a:srgbClr val="FBEAE6"/>
          </a:solidFill>
          <a:ln w="12700">
            <a:solidFill>
              <a:srgbClr val="FBEAE6"/>
            </a:solidFill>
            <a:prstDash val="solid"/>
          </a:ln>
        </p:spPr>
      </p:sp>
      <p:sp>
        <p:nvSpPr>
          <p:cNvPr id="4" name="Text 2"/>
          <p:cNvSpPr txBox="1"/>
          <p:nvPr/>
        </p:nvSpPr>
        <p:spPr>
          <a:xfrm>
            <a:off x="640080" y="1234440"/>
            <a:ext cx="3566160" cy="274320"/>
          </a:xfrm>
          <a:prstGeom prst="rect">
            <a:avLst/>
          </a:prstGeom>
          <a:noFill/>
          <a:ln/>
        </p:spPr>
        <p:txBody>
          <a:bodyPr wrap="square" lIns="0" tIns="0" rIns="0" bIns="0" rtlCol="0" anchor="ctr"/>
          <a:lstStyle/>
          <a:p>
            <a:pPr indent="0" marL="0">
              <a:buNone/>
            </a:pPr>
            <a:r>
              <a:rPr lang="en-US" sz="1300" b="1" dirty="0">
                <a:solidFill>
                  <a:srgbClr val="C8553D"/>
                </a:solidFill>
                <a:latin typeface="Calibri" pitchFamily="34" charset="0"/>
                <a:ea typeface="Calibri" pitchFamily="34" charset="-122"/>
                <a:cs typeface="Calibri" pitchFamily="34" charset="-120"/>
              </a:rPr>
              <a:t>Problem</a:t>
            </a:r>
            <a:endParaRPr lang="en-US" sz="1300" dirty="0"/>
          </a:p>
        </p:txBody>
      </p:sp>
      <p:sp>
        <p:nvSpPr>
          <p:cNvPr id="5" name="Text 3"/>
          <p:cNvSpPr txBox="1"/>
          <p:nvPr/>
        </p:nvSpPr>
        <p:spPr>
          <a:xfrm>
            <a:off x="640080" y="1554480"/>
            <a:ext cx="3566160" cy="82296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The score was 'occupied UV cells' - chosen for convenience. Optimising a score you invented is circular.</a:t>
            </a:r>
            <a:endParaRPr lang="en-US" sz="1200" dirty="0"/>
          </a:p>
        </p:txBody>
      </p:sp>
      <p:sp>
        <p:nvSpPr>
          <p:cNvPr id="6" name="Shape 4"/>
          <p:cNvSpPr/>
          <p:nvPr/>
        </p:nvSpPr>
        <p:spPr>
          <a:xfrm>
            <a:off x="457200" y="2606040"/>
            <a:ext cx="3931920" cy="384048"/>
          </a:xfrm>
          <a:prstGeom prst="roundRect">
            <a:avLst>
              <a:gd name="adj" fmla="val 14286"/>
            </a:avLst>
          </a:prstGeom>
          <a:solidFill>
            <a:srgbClr val="F4F6FA"/>
          </a:solidFill>
          <a:ln w="12700">
            <a:solidFill>
              <a:srgbClr val="F4F6FA"/>
            </a:solidFill>
            <a:prstDash val="solid"/>
          </a:ln>
        </p:spPr>
      </p:sp>
      <p:sp>
        <p:nvSpPr>
          <p:cNvPr id="7" name="Text 5"/>
          <p:cNvSpPr txBox="1"/>
          <p:nvPr/>
        </p:nvSpPr>
        <p:spPr>
          <a:xfrm>
            <a:off x="640080" y="2606040"/>
            <a:ext cx="3566160" cy="38404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1.  HL Tau disc model</a:t>
            </a:r>
            <a:endParaRPr lang="en-US" sz="1300" dirty="0"/>
          </a:p>
        </p:txBody>
      </p:sp>
      <p:sp>
        <p:nvSpPr>
          <p:cNvPr id="8" name="Shape 6"/>
          <p:cNvSpPr/>
          <p:nvPr/>
        </p:nvSpPr>
        <p:spPr>
          <a:xfrm>
            <a:off x="457200" y="3108960"/>
            <a:ext cx="3931920" cy="384048"/>
          </a:xfrm>
          <a:prstGeom prst="roundRect">
            <a:avLst>
              <a:gd name="adj" fmla="val 14286"/>
            </a:avLst>
          </a:prstGeom>
          <a:solidFill>
            <a:srgbClr val="F4F6FA"/>
          </a:solidFill>
          <a:ln w="12700">
            <a:solidFill>
              <a:srgbClr val="F4F6FA"/>
            </a:solidFill>
            <a:prstDash val="solid"/>
          </a:ln>
        </p:spPr>
      </p:sp>
      <p:sp>
        <p:nvSpPr>
          <p:cNvPr id="9" name="Text 7"/>
          <p:cNvSpPr txBox="1"/>
          <p:nvPr/>
        </p:nvSpPr>
        <p:spPr>
          <a:xfrm>
            <a:off x="640080" y="3108960"/>
            <a:ext cx="3566160" cy="38404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2.  Visibility</a:t>
            </a:r>
            <a:endParaRPr lang="en-US" sz="1300" dirty="0"/>
          </a:p>
        </p:txBody>
      </p:sp>
      <p:sp>
        <p:nvSpPr>
          <p:cNvPr id="10" name="Shape 8"/>
          <p:cNvSpPr/>
          <p:nvPr/>
        </p:nvSpPr>
        <p:spPr>
          <a:xfrm>
            <a:off x="457200" y="3611880"/>
            <a:ext cx="3931920" cy="384048"/>
          </a:xfrm>
          <a:prstGeom prst="roundRect">
            <a:avLst>
              <a:gd name="adj" fmla="val 14286"/>
            </a:avLst>
          </a:prstGeom>
          <a:solidFill>
            <a:srgbClr val="F4F6FA"/>
          </a:solidFill>
          <a:ln w="12700">
            <a:solidFill>
              <a:srgbClr val="F4F6FA"/>
            </a:solidFill>
            <a:prstDash val="solid"/>
          </a:ln>
        </p:spPr>
      </p:sp>
      <p:sp>
        <p:nvSpPr>
          <p:cNvPr id="11" name="Text 9"/>
          <p:cNvSpPr txBox="1"/>
          <p:nvPr/>
        </p:nvSpPr>
        <p:spPr>
          <a:xfrm>
            <a:off x="640080" y="3611880"/>
            <a:ext cx="3566160" cy="38404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3.  Fisher information</a:t>
            </a:r>
            <a:endParaRPr lang="en-US" sz="1300" dirty="0"/>
          </a:p>
        </p:txBody>
      </p:sp>
      <p:sp>
        <p:nvSpPr>
          <p:cNvPr id="12" name="Shape 10"/>
          <p:cNvSpPr/>
          <p:nvPr/>
        </p:nvSpPr>
        <p:spPr>
          <a:xfrm>
            <a:off x="457200" y="4114800"/>
            <a:ext cx="3931920" cy="384048"/>
          </a:xfrm>
          <a:prstGeom prst="roundRect">
            <a:avLst>
              <a:gd name="adj" fmla="val 14286"/>
            </a:avLst>
          </a:prstGeom>
          <a:solidFill>
            <a:srgbClr val="2A9D8F"/>
          </a:solidFill>
          <a:ln w="12700">
            <a:solidFill>
              <a:srgbClr val="2A9D8F"/>
            </a:solidFill>
            <a:prstDash val="solid"/>
          </a:ln>
        </p:spPr>
      </p:sp>
      <p:sp>
        <p:nvSpPr>
          <p:cNvPr id="13" name="Text 11"/>
          <p:cNvSpPr txBox="1"/>
          <p:nvPr/>
        </p:nvSpPr>
        <p:spPr>
          <a:xfrm>
            <a:off x="640080" y="4114800"/>
            <a:ext cx="35661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  Error bar (Cramer-Rao)</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54880" y="1143000"/>
          <a:ext cx="3931920" cy="914400"/>
        </p:xfrm>
        <a:graphic>
          <a:graphicData uri="http://schemas.openxmlformats.org/drawingml/2006/table">
            <a:tbl>
              <a:tblPr/>
              <a:tblGrid>
                <a:gridCol w="1463040"/>
                <a:gridCol w="1280160"/>
                <a:gridCol w="11887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Error-bar gain</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UV cells lost</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Gap depth</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84048">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Gap radius</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Gap width</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bl>
          </a:graphicData>
        </a:graphic>
      </p:graphicFrame>
      <p:sp>
        <p:nvSpPr>
          <p:cNvPr id="15" name="Text 12"/>
          <p:cNvSpPr txBox="1"/>
          <p:nvPr/>
        </p:nvSpPr>
        <p:spPr>
          <a:xfrm>
            <a:off x="4754880" y="2880360"/>
            <a:ext cx="3931920" cy="914400"/>
          </a:xfrm>
          <a:prstGeom prst="rect">
            <a:avLst/>
          </a:prstGeom>
          <a:noFill/>
          <a:ln/>
        </p:spPr>
        <p:txBody>
          <a:bodyPr wrap="square" lIns="0" tIns="0" rIns="0" bIns="0" rtlCol="0" anchor="ctr"/>
          <a:lstStyle/>
          <a:p>
            <a:pPr indent="0" marL="0">
              <a:buNone/>
            </a:pPr>
            <a:r>
              <a:rPr lang="en-US" sz="1300" i="1" dirty="0">
                <a:solidFill>
                  <a:srgbClr val="0B1D3A"/>
                </a:solidFill>
                <a:latin typeface="Calibri" pitchFamily="34" charset="0"/>
                <a:ea typeface="Calibri" pitchFamily="34" charset="-122"/>
                <a:cs typeface="Calibri" pitchFamily="34" charset="-120"/>
              </a:rPr>
              <a:t>Arrays now compare by the error bar on a physical quantity. Bonus: this objective needs no Rosenberg trick at all.</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Does UV coverage actually predict image quality?</a:t>
            </a:r>
            <a:endParaRPr lang="en-US" sz="2800" dirty="0"/>
          </a:p>
        </p:txBody>
      </p:sp>
      <p:sp>
        <p:nvSpPr>
          <p:cNvPr id="3" name="Text 1"/>
          <p:cNvSpPr txBox="1"/>
          <p:nvPr/>
        </p:nvSpPr>
        <p:spPr>
          <a:xfrm>
            <a:off x="457200" y="1097280"/>
            <a:ext cx="8229600" cy="411480"/>
          </a:xfrm>
          <a:prstGeom prst="rect">
            <a:avLst/>
          </a:prstGeom>
          <a:noFill/>
          <a:ln/>
        </p:spPr>
        <p:txBody>
          <a:bodyPr wrap="square" lIns="0" tIns="0" rIns="0" bIns="0" rtlCol="0" anchor="ctr"/>
          <a:lstStyle/>
          <a:p>
            <a:pPr indent="0" marL="0">
              <a:buNone/>
            </a:pPr>
            <a:r>
              <a:rPr lang="en-US" sz="1300" dirty="0">
                <a:solidFill>
                  <a:srgbClr val="5B6B82"/>
                </a:solidFill>
                <a:latin typeface="Calibri" pitchFamily="34" charset="0"/>
                <a:ea typeface="Calibri" pitchFamily="34" charset="-122"/>
                <a:cs typeface="Calibri" pitchFamily="34" charset="-120"/>
              </a:rPr>
              <a:t>Built end-to-end imaging: sky &gt; visibilities &gt; real coverage &gt; noise &gt; CLEAN &gt; compare. Transform verified to 2e-16.</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4754880" cy="914400"/>
        </p:xfrm>
        <a:graphic>
          <a:graphicData uri="http://schemas.openxmlformats.org/drawingml/2006/table">
            <a:tbl>
              <a:tblPr/>
              <a:tblGrid>
                <a:gridCol w="1645920"/>
                <a:gridCol w="1645920"/>
                <a:gridCol w="146304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Sky model</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Cells predict STRUCTURE</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Cells predict FLUX</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r>
              <a:tr h="41148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Point source</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41148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Close double</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+0.600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Smooth Gaussian</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41148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Disc with gap</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+0.300</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ok"/>
          <p:cNvSpPr/>
          <p:nvPr/>
        </p:nvSpPr>
        <p:spPr>
          <a:xfrm>
            <a:off x="5486400" y="1645920"/>
            <a:ext cx="3200400" cy="1280160"/>
          </a:xfrm>
          <a:prstGeom prst="roundRect">
            <a:avLst>
              <a:gd name="adj" fmla="val 5714"/>
            </a:avLst>
          </a:prstGeom>
          <a:solidFill>
            <a:srgbClr val="E3F2EF"/>
          </a:solidFill>
          <a:ln w="12700">
            <a:solidFill>
              <a:srgbClr val="E3F2EF"/>
            </a:solidFill>
            <a:prstDash val="solid"/>
          </a:ln>
        </p:spPr>
      </p:sp>
      <p:sp>
        <p:nvSpPr>
          <p:cNvPr id="6" name="Text 3"/>
          <p:cNvSpPr txBox="1"/>
          <p:nvPr/>
        </p:nvSpPr>
        <p:spPr>
          <a:xfrm>
            <a:off x="5669280" y="1737360"/>
            <a:ext cx="2834640" cy="320040"/>
          </a:xfrm>
          <a:prstGeom prst="rect">
            <a:avLst/>
          </a:prstGeom>
          <a:noFill/>
          <a:ln/>
        </p:spPr>
        <p:txBody>
          <a:bodyPr wrap="square" lIns="0" tIns="0" rIns="0" bIns="0" rtlCol="0" anchor="ctr"/>
          <a:lstStyle/>
          <a:p>
            <a:pPr indent="0" marL="0">
              <a:buNone/>
            </a:pPr>
            <a:r>
              <a:rPr lang="en-US" sz="1400" b="1" dirty="0">
                <a:solidFill>
                  <a:srgbClr val="2A9D8F"/>
                </a:solidFill>
                <a:latin typeface="Calibri" pitchFamily="34" charset="0"/>
                <a:ea typeface="Calibri" pitchFamily="34" charset="-122"/>
                <a:cs typeface="Calibri" pitchFamily="34" charset="-120"/>
              </a:rPr>
              <a:t>Structure: validated</a:t>
            </a:r>
            <a:endParaRPr lang="en-US" sz="1400" dirty="0"/>
          </a:p>
        </p:txBody>
      </p:sp>
      <p:sp>
        <p:nvSpPr>
          <p:cNvPr id="7" name="Text 4"/>
          <p:cNvSpPr txBox="1"/>
          <p:nvPr/>
        </p:nvSpPr>
        <p:spPr>
          <a:xfrm>
            <a:off x="5669280" y="2103120"/>
            <a:ext cx="2834640" cy="7315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Perfect rank correlation against every sky model.</a:t>
            </a:r>
            <a:endParaRPr lang="en-US" sz="1200" dirty="0"/>
          </a:p>
        </p:txBody>
      </p:sp>
      <p:sp>
        <p:nvSpPr>
          <p:cNvPr id="8" name="bad"/>
          <p:cNvSpPr/>
          <p:nvPr/>
        </p:nvSpPr>
        <p:spPr>
          <a:xfrm>
            <a:off x="5486400" y="3063240"/>
            <a:ext cx="3200400" cy="1280160"/>
          </a:xfrm>
          <a:prstGeom prst="roundRect">
            <a:avLst>
              <a:gd name="adj" fmla="val 5714"/>
            </a:avLst>
          </a:prstGeom>
          <a:solidFill>
            <a:srgbClr val="FBEAE6"/>
          </a:solidFill>
          <a:ln w="12700">
            <a:solidFill>
              <a:srgbClr val="FBEAE6"/>
            </a:solidFill>
            <a:prstDash val="solid"/>
          </a:ln>
        </p:spPr>
      </p:sp>
      <p:sp>
        <p:nvSpPr>
          <p:cNvPr id="9" name="Text 6"/>
          <p:cNvSpPr txBox="1"/>
          <p:nvPr/>
        </p:nvSpPr>
        <p:spPr>
          <a:xfrm>
            <a:off x="5669280" y="3154680"/>
            <a:ext cx="2834640" cy="320040"/>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Flux: not predicted</a:t>
            </a:r>
            <a:endParaRPr lang="en-US" sz="1400" dirty="0"/>
          </a:p>
        </p:txBody>
      </p:sp>
      <p:sp>
        <p:nvSpPr>
          <p:cNvPr id="10" name="Text 7"/>
          <p:cNvSpPr txBox="1"/>
          <p:nvPr/>
        </p:nvSpPr>
        <p:spPr>
          <a:xfrm>
            <a:off x="5669280" y="3520440"/>
            <a:ext cx="2834640" cy="7315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Zero correlation on extended sources.</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The failure a cell count cannot see</a:t>
            </a:r>
            <a:endParaRPr lang="en-US" sz="2800" dirty="0"/>
          </a:p>
        </p:txBody>
      </p:sp>
      <p:sp>
        <p:nvSpPr>
          <p:cNvPr id="3" name="a"/>
          <p:cNvSpPr/>
          <p:nvPr/>
        </p:nvSpPr>
        <p:spPr>
          <a:xfrm>
            <a:off x="457200" y="1188720"/>
            <a:ext cx="3931920" cy="2194560"/>
          </a:xfrm>
          <a:prstGeom prst="roundRect">
            <a:avLst>
              <a:gd name="adj" fmla="val 3333"/>
            </a:avLst>
          </a:prstGeom>
          <a:solidFill>
            <a:srgbClr val="F4F6FA"/>
          </a:solidFill>
          <a:ln w="12700">
            <a:solidFill>
              <a:srgbClr val="F4F6FA"/>
            </a:solidFill>
            <a:prstDash val="solid"/>
          </a:ln>
        </p:spPr>
      </p:sp>
      <p:sp>
        <p:nvSpPr>
          <p:cNvPr id="4" name="Text 2"/>
          <p:cNvSpPr txBox="1"/>
          <p:nvPr/>
        </p:nvSpPr>
        <p:spPr>
          <a:xfrm>
            <a:off x="685800" y="1325880"/>
            <a:ext cx="34747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Searched, maximum cells</a:t>
            </a:r>
            <a:endParaRPr lang="en-US" sz="1400" dirty="0"/>
          </a:p>
        </p:txBody>
      </p:sp>
      <p:sp>
        <p:nvSpPr>
          <p:cNvPr id="5" name="Text 3"/>
          <p:cNvSpPr txBox="1"/>
          <p:nvPr/>
        </p:nvSpPr>
        <p:spPr>
          <a:xfrm>
            <a:off x="685800" y="1645920"/>
            <a:ext cx="3474720" cy="2743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5,204 UV cells</a:t>
            </a:r>
            <a:endParaRPr lang="en-US" sz="1200" dirty="0"/>
          </a:p>
        </p:txBody>
      </p:sp>
      <p:sp>
        <p:nvSpPr>
          <p:cNvPr id="6" name="Text 4"/>
          <p:cNvSpPr txBox="1"/>
          <p:nvPr/>
        </p:nvSpPr>
        <p:spPr>
          <a:xfrm>
            <a:off x="685800" y="1965960"/>
            <a:ext cx="3474720" cy="914400"/>
          </a:xfrm>
          <a:prstGeom prst="rect">
            <a:avLst/>
          </a:prstGeom>
          <a:noFill/>
          <a:ln/>
        </p:spPr>
        <p:txBody>
          <a:bodyPr wrap="square" lIns="0" tIns="0" rIns="0" bIns="0" rtlCol="0" anchor="ctr"/>
          <a:lstStyle/>
          <a:p>
            <a:pPr indent="0" marL="0">
              <a:buNone/>
            </a:pPr>
            <a:r>
              <a:rPr lang="en-US" sz="6000" b="1" dirty="0">
                <a:solidFill>
                  <a:srgbClr val="C8553D"/>
                </a:solidFill>
                <a:latin typeface="Cambria" pitchFamily="34" charset="0"/>
                <a:ea typeface="Cambria" pitchFamily="34" charset="-122"/>
                <a:cs typeface="Cambria" pitchFamily="34" charset="-120"/>
              </a:rPr>
              <a:t>42%</a:t>
            </a:r>
            <a:endParaRPr lang="en-US" sz="6000" dirty="0"/>
          </a:p>
        </p:txBody>
      </p:sp>
      <p:sp>
        <p:nvSpPr>
          <p:cNvPr id="7" name="Text 5"/>
          <p:cNvSpPr txBox="1"/>
          <p:nvPr/>
        </p:nvSpPr>
        <p:spPr>
          <a:xfrm>
            <a:off x="685800" y="2926080"/>
            <a:ext cx="347472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of the source's flux recovered</a:t>
            </a:r>
            <a:endParaRPr lang="en-US" sz="1200" dirty="0"/>
          </a:p>
        </p:txBody>
      </p:sp>
      <p:sp>
        <p:nvSpPr>
          <p:cNvPr id="8" name="b"/>
          <p:cNvSpPr/>
          <p:nvPr/>
        </p:nvSpPr>
        <p:spPr>
          <a:xfrm>
            <a:off x="4754880" y="1188720"/>
            <a:ext cx="3931920" cy="2194560"/>
          </a:xfrm>
          <a:prstGeom prst="roundRect">
            <a:avLst>
              <a:gd name="adj" fmla="val 3333"/>
            </a:avLst>
          </a:prstGeom>
          <a:solidFill>
            <a:srgbClr val="F4F6FA"/>
          </a:solidFill>
          <a:ln w="12700">
            <a:solidFill>
              <a:srgbClr val="F4F6FA"/>
            </a:solidFill>
            <a:prstDash val="solid"/>
          </a:ln>
        </p:spPr>
      </p:sp>
      <p:sp>
        <p:nvSpPr>
          <p:cNvPr id="9" name="Text 7"/>
          <p:cNvSpPr txBox="1"/>
          <p:nvPr/>
        </p:nvSpPr>
        <p:spPr>
          <a:xfrm>
            <a:off x="4983480" y="1325880"/>
            <a:ext cx="3474720" cy="32004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Golden spiral, on real pads</a:t>
            </a:r>
            <a:endParaRPr lang="en-US" sz="1400" dirty="0"/>
          </a:p>
        </p:txBody>
      </p:sp>
      <p:sp>
        <p:nvSpPr>
          <p:cNvPr id="10" name="Text 8"/>
          <p:cNvSpPr txBox="1"/>
          <p:nvPr/>
        </p:nvSpPr>
        <p:spPr>
          <a:xfrm>
            <a:off x="4983480" y="1645920"/>
            <a:ext cx="3474720" cy="2743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3,350 UV cells</a:t>
            </a:r>
            <a:endParaRPr lang="en-US" sz="1200" dirty="0"/>
          </a:p>
        </p:txBody>
      </p:sp>
      <p:sp>
        <p:nvSpPr>
          <p:cNvPr id="11" name="Text 9"/>
          <p:cNvSpPr txBox="1"/>
          <p:nvPr/>
        </p:nvSpPr>
        <p:spPr>
          <a:xfrm>
            <a:off x="4983480" y="1965960"/>
            <a:ext cx="3474720" cy="914400"/>
          </a:xfrm>
          <a:prstGeom prst="rect">
            <a:avLst/>
          </a:prstGeom>
          <a:noFill/>
          <a:ln/>
        </p:spPr>
        <p:txBody>
          <a:bodyPr wrap="square" lIns="0" tIns="0" rIns="0" bIns="0" rtlCol="0" anchor="ctr"/>
          <a:lstStyle/>
          <a:p>
            <a:pPr indent="0" marL="0">
              <a:buNone/>
            </a:pPr>
            <a:r>
              <a:rPr lang="en-US" sz="6000" b="1" dirty="0">
                <a:solidFill>
                  <a:srgbClr val="2A9D8F"/>
                </a:solidFill>
                <a:latin typeface="Cambria" pitchFamily="34" charset="0"/>
                <a:ea typeface="Cambria" pitchFamily="34" charset="-122"/>
                <a:cs typeface="Cambria" pitchFamily="34" charset="-120"/>
              </a:rPr>
              <a:t>91%</a:t>
            </a:r>
            <a:endParaRPr lang="en-US" sz="6000" dirty="0"/>
          </a:p>
        </p:txBody>
      </p:sp>
      <p:sp>
        <p:nvSpPr>
          <p:cNvPr id="12" name="Text 10"/>
          <p:cNvSpPr txBox="1"/>
          <p:nvPr/>
        </p:nvSpPr>
        <p:spPr>
          <a:xfrm>
            <a:off x="4983480" y="2926080"/>
            <a:ext cx="347472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of the source's flux recovered</a:t>
            </a:r>
            <a:endParaRPr lang="en-US" sz="1200" dirty="0"/>
          </a:p>
        </p:txBody>
      </p:sp>
      <p:sp>
        <p:nvSpPr>
          <p:cNvPr id="13" name="Text 11"/>
          <p:cNvSpPr txBox="1"/>
          <p:nvPr/>
        </p:nvSpPr>
        <p:spPr>
          <a:xfrm>
            <a:off x="457200" y="3566160"/>
            <a:ext cx="8229600" cy="457200"/>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55% more cells, less than half the source. Maximising cells pushes antennas outward and resolves extended emission out.</a:t>
            </a:r>
            <a:endParaRPr lang="en-US" sz="1300" dirty="0"/>
          </a:p>
        </p:txBody>
      </p:sp>
      <p:sp>
        <p:nvSpPr>
          <p:cNvPr id="14" name="Text 12"/>
          <p:cNvSpPr txBox="1"/>
          <p:nvPr/>
        </p:nvSpPr>
        <p:spPr>
          <a:xfrm>
            <a:off x="457200" y="4069080"/>
            <a:ext cx="8229600" cy="411480"/>
          </a:xfrm>
          <a:prstGeom prst="rect">
            <a:avLst/>
          </a:prstGeom>
          <a:noFill/>
          <a:ln/>
        </p:spPr>
        <p:txBody>
          <a:bodyPr wrap="square" lIns="0" tIns="0" rIns="0" bIns="0" rtlCol="0" anchor="ctr"/>
          <a:lstStyle/>
          <a:p>
            <a:pPr indent="0" marL="0">
              <a:buNone/>
            </a:pPr>
            <a:r>
              <a:rPr lang="en-US" sz="1300" b="1" dirty="0">
                <a:solidFill>
                  <a:srgbClr val="0B1D3A"/>
                </a:solidFill>
                <a:latin typeface="Calibri" pitchFamily="34" charset="0"/>
                <a:ea typeface="Calibri" pitchFamily="34" charset="-122"/>
                <a:cs typeface="Calibri" pitchFamily="34" charset="-120"/>
              </a:rPr>
              <a:t>This qualifies our own headline: the +10.1% from search is a gain in structure, not in flux.</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Limits the coverage metrics cannot see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011680"/>
                <a:gridCol w="1463040"/>
                <a:gridCol w="1280160"/>
                <a:gridCol w="1645920"/>
                <a:gridCol w="18288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Bandwidth</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Primary beam</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Binds</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Spectral line</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427"</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primary beam</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Narrow continuum</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142"</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bandwidth</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Wide continuum</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0.67"</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bandwidth</a:t>
                      </a:r>
                      <a:endParaRPr lang="en-US" sz="12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bl>
          </a:graphicData>
        </a:graphic>
      </p:graphicFrame>
      <p:pic>
        <p:nvPicPr>
          <p:cNvPr id="4" name="fov" descr="D:\thz-quantum-optimization\figures\fig31_field_of_view_limits.png">    </p:cNvPr>
          <p:cNvPicPr>
            <a:picLocks noChangeAspect="1"/>
          </p:cNvPicPr>
          <p:nvPr/>
        </p:nvPicPr>
        <p:blipFill>
          <a:blip r:embed="rId1"/>
          <a:stretch>
            <a:fillRect/>
          </a:stretch>
        </p:blipFill>
        <p:spPr>
          <a:xfrm>
            <a:off x="457200" y="2788920"/>
            <a:ext cx="4389120" cy="1828038"/>
          </a:xfrm>
          <a:prstGeom prst="rect">
            <a:avLst/>
          </a:prstGeom>
        </p:spPr>
      </p:pic>
      <p:sp>
        <p:nvSpPr>
          <p:cNvPr id="5" name="tension"/>
          <p:cNvSpPr/>
          <p:nvPr/>
        </p:nvSpPr>
        <p:spPr>
          <a:xfrm>
            <a:off x="5120640" y="2788920"/>
            <a:ext cx="3566160" cy="1828800"/>
          </a:xfrm>
          <a:prstGeom prst="roundRect">
            <a:avLst>
              <a:gd name="adj" fmla="val 4000"/>
            </a:avLst>
          </a:prstGeom>
          <a:solidFill>
            <a:srgbClr val="0B1D3A"/>
          </a:solidFill>
          <a:ln w="12700">
            <a:solidFill>
              <a:srgbClr val="0B1D3A"/>
            </a:solidFill>
            <a:prstDash val="solid"/>
          </a:ln>
        </p:spPr>
      </p:sp>
      <p:sp>
        <p:nvSpPr>
          <p:cNvPr id="6" name="Text 2"/>
          <p:cNvSpPr txBox="1"/>
          <p:nvPr/>
        </p:nvSpPr>
        <p:spPr>
          <a:xfrm>
            <a:off x="5303520" y="2880360"/>
            <a:ext cx="3200400" cy="320040"/>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The tension</a:t>
            </a:r>
            <a:endParaRPr lang="en-US" sz="1400" dirty="0"/>
          </a:p>
        </p:txBody>
      </p:sp>
      <p:sp>
        <p:nvSpPr>
          <p:cNvPr id="7" name="Text 3"/>
          <p:cNvSpPr txBox="1"/>
          <p:nvPr/>
        </p:nvSpPr>
        <p:spPr>
          <a:xfrm>
            <a:off x="5303520" y="3200400"/>
            <a:ext cx="3200400" cy="13258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Smearing scales with the synthesised beam. Extend the array for resolution and the usable field shrinks in proportion.</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A tool anyone can use</a:t>
            </a:r>
            <a:endParaRPr lang="en-US" sz="2800" dirty="0"/>
          </a:p>
        </p:txBody>
      </p:sp>
      <p:sp>
        <p:nvSpPr>
          <p:cNvPr id="3" name="code"/>
          <p:cNvSpPr/>
          <p:nvPr/>
        </p:nvSpPr>
        <p:spPr>
          <a:xfrm>
            <a:off x="457200" y="1143000"/>
            <a:ext cx="8229600" cy="960120"/>
          </a:xfrm>
          <a:prstGeom prst="roundRect">
            <a:avLst>
              <a:gd name="adj" fmla="val 7619"/>
            </a:avLst>
          </a:prstGeom>
          <a:solidFill>
            <a:srgbClr val="1B2A41"/>
          </a:solidFill>
          <a:ln w="12700">
            <a:solidFill>
              <a:srgbClr val="1B2A41"/>
            </a:solidFill>
            <a:prstDash val="solid"/>
          </a:ln>
        </p:spPr>
      </p:sp>
      <p:sp>
        <p:nvSpPr>
          <p:cNvPr id="4" name="Text 2"/>
          <p:cNvSpPr txBox="1"/>
          <p:nvPr/>
        </p:nvSpPr>
        <p:spPr>
          <a:xfrm>
            <a:off x="640080" y="1234440"/>
            <a:ext cx="7863840" cy="777240"/>
          </a:xfrm>
          <a:prstGeom prst="rect">
            <a:avLst/>
          </a:prstGeom>
          <a:noFill/>
          <a:ln/>
        </p:spPr>
        <p:txBody>
          <a:bodyPr wrap="square" lIns="0" tIns="0" rIns="0" bIns="0" rtlCol="0" anchor="ctr"/>
          <a:lstStyle/>
          <a:p>
            <a:pPr indent="0" marL="0">
              <a:buNone/>
            </a:pPr>
            <a:r>
              <a:rPr lang="en-US" sz="1300" dirty="0">
                <a:solidFill>
                  <a:srgbClr val="F2A541"/>
                </a:solidFill>
                <a:latin typeface="Courier New" pitchFamily="34" charset="0"/>
                <a:ea typeface="Courier New" pitchFamily="34" charset="-122"/>
                <a:cs typeface="Courier New" pitchFamily="34" charset="-120"/>
              </a:rPr>
              <a:t>python design_array.py --site alma  --n 20 --dish 12</a:t>
            </a:r>
            <a:endParaRPr lang="en-US" sz="1300" dirty="0"/>
          </a:p>
          <a:p>
            <a:pPr indent="0" marL="0">
              <a:buNone/>
            </a:pPr>
            <a:r>
              <a:rPr lang="en-US" sz="1300" dirty="0">
                <a:solidFill>
                  <a:srgbClr val="F2A541"/>
                </a:solidFill>
                <a:latin typeface="Courier New" pitchFamily="34" charset="0"/>
                <a:ea typeface="Courier New" pitchFamily="34" charset="-122"/>
                <a:cs typeface="Courier New" pitchFamily="34" charset="-120"/>
              </a:rPr>
              <a:t>python design_array.py --site hanle --n 16 --dish 8 --max-baseline 3000</a:t>
            </a:r>
            <a:endParaRPr lang="en-US" sz="1300" dirty="0"/>
          </a:p>
        </p:txBody>
      </p:sp>
      <p:sp>
        <p:nvSpPr>
          <p:cNvPr id="5" name="out0"/>
          <p:cNvSpPr/>
          <p:nvPr/>
        </p:nvSpPr>
        <p:spPr>
          <a:xfrm>
            <a:off x="457200" y="2331720"/>
            <a:ext cx="1920240" cy="1051560"/>
          </a:xfrm>
          <a:prstGeom prst="roundRect">
            <a:avLst>
              <a:gd name="adj" fmla="val 6957"/>
            </a:avLst>
          </a:prstGeom>
          <a:solidFill>
            <a:srgbClr val="F4F6FA"/>
          </a:solidFill>
          <a:ln w="12700">
            <a:solidFill>
              <a:srgbClr val="F4F6FA"/>
            </a:solidFill>
            <a:prstDash val="solid"/>
          </a:ln>
        </p:spPr>
      </p:sp>
      <p:sp>
        <p:nvSpPr>
          <p:cNvPr id="6" name="Text 4"/>
          <p:cNvSpPr txBox="1"/>
          <p:nvPr/>
        </p:nvSpPr>
        <p:spPr>
          <a:xfrm>
            <a:off x="594360" y="2423160"/>
            <a:ext cx="1645920" cy="320040"/>
          </a:xfrm>
          <a:prstGeom prst="rect">
            <a:avLst/>
          </a:prstGeom>
          <a:noFill/>
          <a:ln/>
        </p:spPr>
        <p:txBody>
          <a:bodyPr wrap="square" lIns="0" tIns="0" rIns="0" bIns="0" rtlCol="0" anchor="ctr"/>
          <a:lstStyle/>
          <a:p>
            <a:pPr indent="0" marL="0">
              <a:buNone/>
            </a:pPr>
            <a:r>
              <a:rPr lang="en-US" sz="1300" b="1" dirty="0">
                <a:solidFill>
                  <a:srgbClr val="0B1D3A"/>
                </a:solidFill>
                <a:latin typeface="Courier New" pitchFamily="34" charset="0"/>
                <a:ea typeface="Courier New" pitchFamily="34" charset="-122"/>
                <a:cs typeface="Courier New" pitchFamily="34" charset="-120"/>
              </a:rPr>
              <a:t>pads.csv</a:t>
            </a:r>
            <a:endParaRPr lang="en-US" sz="1300" dirty="0"/>
          </a:p>
        </p:txBody>
      </p:sp>
      <p:sp>
        <p:nvSpPr>
          <p:cNvPr id="7" name="Text 5"/>
          <p:cNvSpPr txBox="1"/>
          <p:nvPr/>
        </p:nvSpPr>
        <p:spPr>
          <a:xfrm>
            <a:off x="594360" y="2788920"/>
            <a:ext cx="1645920" cy="50292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latitude, longitude, elevation</a:t>
            </a:r>
            <a:endParaRPr lang="en-US" sz="1100" dirty="0"/>
          </a:p>
        </p:txBody>
      </p:sp>
      <p:sp>
        <p:nvSpPr>
          <p:cNvPr id="8" name="out1"/>
          <p:cNvSpPr/>
          <p:nvPr/>
        </p:nvSpPr>
        <p:spPr>
          <a:xfrm>
            <a:off x="2542032" y="2331720"/>
            <a:ext cx="1920240" cy="1051560"/>
          </a:xfrm>
          <a:prstGeom prst="roundRect">
            <a:avLst>
              <a:gd name="adj" fmla="val 6957"/>
            </a:avLst>
          </a:prstGeom>
          <a:solidFill>
            <a:srgbClr val="F4F6FA"/>
          </a:solidFill>
          <a:ln w="12700">
            <a:solidFill>
              <a:srgbClr val="F4F6FA"/>
            </a:solidFill>
            <a:prstDash val="solid"/>
          </a:ln>
        </p:spPr>
      </p:sp>
      <p:sp>
        <p:nvSpPr>
          <p:cNvPr id="9" name="Text 7"/>
          <p:cNvSpPr txBox="1"/>
          <p:nvPr/>
        </p:nvSpPr>
        <p:spPr>
          <a:xfrm>
            <a:off x="2679192" y="2423160"/>
            <a:ext cx="1645920" cy="320040"/>
          </a:xfrm>
          <a:prstGeom prst="rect">
            <a:avLst/>
          </a:prstGeom>
          <a:noFill/>
          <a:ln/>
        </p:spPr>
        <p:txBody>
          <a:bodyPr wrap="square" lIns="0" tIns="0" rIns="0" bIns="0" rtlCol="0" anchor="ctr"/>
          <a:lstStyle/>
          <a:p>
            <a:pPr indent="0" marL="0">
              <a:buNone/>
            </a:pPr>
            <a:r>
              <a:rPr lang="en-US" sz="1300" b="1" dirty="0">
                <a:solidFill>
                  <a:srgbClr val="0B1D3A"/>
                </a:solidFill>
                <a:latin typeface="Courier New" pitchFamily="34" charset="0"/>
                <a:ea typeface="Courier New" pitchFamily="34" charset="-122"/>
                <a:cs typeface="Courier New" pitchFamily="34" charset="-120"/>
              </a:rPr>
              <a:t>baselines.csv</a:t>
            </a:r>
            <a:endParaRPr lang="en-US" sz="1300" dirty="0"/>
          </a:p>
        </p:txBody>
      </p:sp>
      <p:sp>
        <p:nvSpPr>
          <p:cNvPr id="10" name="Text 8"/>
          <p:cNvSpPr txBox="1"/>
          <p:nvPr/>
        </p:nvSpPr>
        <p:spPr>
          <a:xfrm>
            <a:off x="2679192" y="2788920"/>
            <a:ext cx="1645920" cy="50292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every pairwise distance</a:t>
            </a:r>
            <a:endParaRPr lang="en-US" sz="1100" dirty="0"/>
          </a:p>
        </p:txBody>
      </p:sp>
      <p:sp>
        <p:nvSpPr>
          <p:cNvPr id="11" name="out2"/>
          <p:cNvSpPr/>
          <p:nvPr/>
        </p:nvSpPr>
        <p:spPr>
          <a:xfrm>
            <a:off x="4626864" y="2331720"/>
            <a:ext cx="1920240" cy="1051560"/>
          </a:xfrm>
          <a:prstGeom prst="roundRect">
            <a:avLst>
              <a:gd name="adj" fmla="val 6957"/>
            </a:avLst>
          </a:prstGeom>
          <a:solidFill>
            <a:srgbClr val="F4F6FA"/>
          </a:solidFill>
          <a:ln w="12700">
            <a:solidFill>
              <a:srgbClr val="F4F6FA"/>
            </a:solidFill>
            <a:prstDash val="solid"/>
          </a:ln>
        </p:spPr>
      </p:sp>
      <p:sp>
        <p:nvSpPr>
          <p:cNvPr id="12" name="Text 10"/>
          <p:cNvSpPr txBox="1"/>
          <p:nvPr/>
        </p:nvSpPr>
        <p:spPr>
          <a:xfrm>
            <a:off x="4764024" y="2423160"/>
            <a:ext cx="1645920" cy="320040"/>
          </a:xfrm>
          <a:prstGeom prst="rect">
            <a:avLst/>
          </a:prstGeom>
          <a:noFill/>
          <a:ln/>
        </p:spPr>
        <p:txBody>
          <a:bodyPr wrap="square" lIns="0" tIns="0" rIns="0" bIns="0" rtlCol="0" anchor="ctr"/>
          <a:lstStyle/>
          <a:p>
            <a:pPr indent="0" marL="0">
              <a:buNone/>
            </a:pPr>
            <a:r>
              <a:rPr lang="en-US" sz="1300" b="1" dirty="0">
                <a:solidFill>
                  <a:srgbClr val="0B1D3A"/>
                </a:solidFill>
                <a:latin typeface="Courier New" pitchFamily="34" charset="0"/>
                <a:ea typeface="Courier New" pitchFamily="34" charset="-122"/>
                <a:cs typeface="Courier New" pitchFamily="34" charset="-120"/>
              </a:rPr>
              <a:t>array.cfg</a:t>
            </a:r>
            <a:endParaRPr lang="en-US" sz="1300" dirty="0"/>
          </a:p>
        </p:txBody>
      </p:sp>
      <p:sp>
        <p:nvSpPr>
          <p:cNvPr id="13" name="Text 11"/>
          <p:cNvSpPr txBox="1"/>
          <p:nvPr/>
        </p:nvSpPr>
        <p:spPr>
          <a:xfrm>
            <a:off x="4764024" y="2788920"/>
            <a:ext cx="1645920" cy="50292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CASA format, loads in simobserve</a:t>
            </a:r>
            <a:endParaRPr lang="en-US" sz="1100" dirty="0"/>
          </a:p>
        </p:txBody>
      </p:sp>
      <p:sp>
        <p:nvSpPr>
          <p:cNvPr id="14" name="out3"/>
          <p:cNvSpPr/>
          <p:nvPr/>
        </p:nvSpPr>
        <p:spPr>
          <a:xfrm>
            <a:off x="6711696" y="2331720"/>
            <a:ext cx="1920240" cy="1051560"/>
          </a:xfrm>
          <a:prstGeom prst="roundRect">
            <a:avLst>
              <a:gd name="adj" fmla="val 6957"/>
            </a:avLst>
          </a:prstGeom>
          <a:solidFill>
            <a:srgbClr val="F4F6FA"/>
          </a:solidFill>
          <a:ln w="12700">
            <a:solidFill>
              <a:srgbClr val="F4F6FA"/>
            </a:solidFill>
            <a:prstDash val="solid"/>
          </a:ln>
        </p:spPr>
      </p:sp>
      <p:sp>
        <p:nvSpPr>
          <p:cNvPr id="15" name="Text 13"/>
          <p:cNvSpPr txBox="1"/>
          <p:nvPr/>
        </p:nvSpPr>
        <p:spPr>
          <a:xfrm>
            <a:off x="6848856" y="2423160"/>
            <a:ext cx="1645920" cy="320040"/>
          </a:xfrm>
          <a:prstGeom prst="rect">
            <a:avLst/>
          </a:prstGeom>
          <a:noFill/>
          <a:ln/>
        </p:spPr>
        <p:txBody>
          <a:bodyPr wrap="square" lIns="0" tIns="0" rIns="0" bIns="0" rtlCol="0" anchor="ctr"/>
          <a:lstStyle/>
          <a:p>
            <a:pPr indent="0" marL="0">
              <a:buNone/>
            </a:pPr>
            <a:r>
              <a:rPr lang="en-US" sz="1300" b="1" dirty="0">
                <a:solidFill>
                  <a:srgbClr val="0B1D3A"/>
                </a:solidFill>
                <a:latin typeface="Courier New" pitchFamily="34" charset="0"/>
                <a:ea typeface="Courier New" pitchFamily="34" charset="-122"/>
                <a:cs typeface="Courier New" pitchFamily="34" charset="-120"/>
              </a:rPr>
              <a:t>run.yaml</a:t>
            </a:r>
            <a:endParaRPr lang="en-US" sz="1300" dirty="0"/>
          </a:p>
        </p:txBody>
      </p:sp>
      <p:sp>
        <p:nvSpPr>
          <p:cNvPr id="16" name="Text 14"/>
          <p:cNvSpPr txBox="1"/>
          <p:nvPr/>
        </p:nvSpPr>
        <p:spPr>
          <a:xfrm>
            <a:off x="6848856" y="2788920"/>
            <a:ext cx="1645920" cy="50292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every parameter, exact rerun</a:t>
            </a:r>
            <a:endParaRPr lang="en-US" sz="1100" dirty="0"/>
          </a:p>
        </p:txBody>
      </p:sp>
      <p:sp>
        <p:nvSpPr>
          <p:cNvPr id="17" name="Text 15"/>
          <p:cNvSpPr txBox="1"/>
          <p:nvPr/>
        </p:nvSpPr>
        <p:spPr>
          <a:xfrm>
            <a:off x="457200" y="3611880"/>
            <a:ext cx="8229600" cy="320040"/>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No penalty-weight input, deliberately.</a:t>
            </a:r>
            <a:endParaRPr lang="en-US" sz="1400" dirty="0"/>
          </a:p>
        </p:txBody>
      </p:sp>
      <p:sp>
        <p:nvSpPr>
          <p:cNvPr id="18" name="Text 16"/>
          <p:cNvSpPr txBox="1"/>
          <p:nvPr/>
        </p:nvSpPr>
        <p:spPr>
          <a:xfrm>
            <a:off x="457200" y="3931920"/>
            <a:ext cx="822960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The classical search never breaks the antenna count, so nothing needs penalising. QUBO penalties are derived and shown with --show-penalties: a hand-typed value below them makes the formulation wrong silently.</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Where it stands</a:t>
            </a:r>
            <a:endParaRPr lang="en-US" sz="2800" dirty="0"/>
          </a:p>
        </p:txBody>
      </p:sp>
      <p:sp>
        <p:nvSpPr>
          <p:cNvPr id="3" name="st0"/>
          <p:cNvSpPr/>
          <p:nvPr/>
        </p:nvSpPr>
        <p:spPr>
          <a:xfrm>
            <a:off x="457200" y="1188720"/>
            <a:ext cx="1920240" cy="1371600"/>
          </a:xfrm>
          <a:prstGeom prst="roundRect">
            <a:avLst>
              <a:gd name="adj" fmla="val 5333"/>
            </a:avLst>
          </a:prstGeom>
          <a:solidFill>
            <a:srgbClr val="F4F6FA"/>
          </a:solidFill>
          <a:ln w="12700">
            <a:solidFill>
              <a:srgbClr val="F4F6FA"/>
            </a:solidFill>
            <a:prstDash val="solid"/>
          </a:ln>
        </p:spPr>
      </p:sp>
      <p:sp>
        <p:nvSpPr>
          <p:cNvPr id="4" name="Text 2"/>
          <p:cNvSpPr txBox="1"/>
          <p:nvPr/>
        </p:nvSpPr>
        <p:spPr>
          <a:xfrm>
            <a:off x="640080" y="1325880"/>
            <a:ext cx="164592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13</a:t>
            </a:r>
            <a:endParaRPr lang="en-US" sz="4000" dirty="0"/>
          </a:p>
        </p:txBody>
      </p:sp>
      <p:sp>
        <p:nvSpPr>
          <p:cNvPr id="5" name="Text 3"/>
          <p:cNvSpPr txBox="1"/>
          <p:nvPr/>
        </p:nvSpPr>
        <p:spPr>
          <a:xfrm>
            <a:off x="640080" y="2057400"/>
            <a:ext cx="164592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manuscript pages</a:t>
            </a:r>
            <a:endParaRPr lang="en-US" sz="1200" dirty="0"/>
          </a:p>
        </p:txBody>
      </p:sp>
      <p:sp>
        <p:nvSpPr>
          <p:cNvPr id="6" name="st1"/>
          <p:cNvSpPr/>
          <p:nvPr/>
        </p:nvSpPr>
        <p:spPr>
          <a:xfrm>
            <a:off x="2542032" y="1188720"/>
            <a:ext cx="1920240" cy="1371600"/>
          </a:xfrm>
          <a:prstGeom prst="roundRect">
            <a:avLst>
              <a:gd name="adj" fmla="val 5333"/>
            </a:avLst>
          </a:prstGeom>
          <a:solidFill>
            <a:srgbClr val="F4F6FA"/>
          </a:solidFill>
          <a:ln w="12700">
            <a:solidFill>
              <a:srgbClr val="F4F6FA"/>
            </a:solidFill>
            <a:prstDash val="solid"/>
          </a:ln>
        </p:spPr>
      </p:sp>
      <p:sp>
        <p:nvSpPr>
          <p:cNvPr id="7" name="Text 5"/>
          <p:cNvSpPr txBox="1"/>
          <p:nvPr/>
        </p:nvSpPr>
        <p:spPr>
          <a:xfrm>
            <a:off x="2724912" y="1325880"/>
            <a:ext cx="164592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17</a:t>
            </a:r>
            <a:endParaRPr lang="en-US" sz="4000" dirty="0"/>
          </a:p>
        </p:txBody>
      </p:sp>
      <p:sp>
        <p:nvSpPr>
          <p:cNvPr id="8" name="Text 6"/>
          <p:cNvSpPr txBox="1"/>
          <p:nvPr/>
        </p:nvSpPr>
        <p:spPr>
          <a:xfrm>
            <a:off x="2724912" y="2057400"/>
            <a:ext cx="164592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figures</a:t>
            </a:r>
            <a:endParaRPr lang="en-US" sz="1200" dirty="0"/>
          </a:p>
        </p:txBody>
      </p:sp>
      <p:sp>
        <p:nvSpPr>
          <p:cNvPr id="9" name="st2"/>
          <p:cNvSpPr/>
          <p:nvPr/>
        </p:nvSpPr>
        <p:spPr>
          <a:xfrm>
            <a:off x="4626864" y="1188720"/>
            <a:ext cx="1920240" cy="1371600"/>
          </a:xfrm>
          <a:prstGeom prst="roundRect">
            <a:avLst>
              <a:gd name="adj" fmla="val 5333"/>
            </a:avLst>
          </a:prstGeom>
          <a:solidFill>
            <a:srgbClr val="F4F6FA"/>
          </a:solidFill>
          <a:ln w="12700">
            <a:solidFill>
              <a:srgbClr val="F4F6FA"/>
            </a:solidFill>
            <a:prstDash val="solid"/>
          </a:ln>
        </p:spPr>
      </p:sp>
      <p:sp>
        <p:nvSpPr>
          <p:cNvPr id="10" name="Text 8"/>
          <p:cNvSpPr txBox="1"/>
          <p:nvPr/>
        </p:nvSpPr>
        <p:spPr>
          <a:xfrm>
            <a:off x="4809744" y="1325880"/>
            <a:ext cx="1645920" cy="731520"/>
          </a:xfrm>
          <a:prstGeom prst="rect">
            <a:avLst/>
          </a:prstGeom>
          <a:noFill/>
          <a:ln/>
        </p:spPr>
        <p:txBody>
          <a:bodyPr wrap="square" lIns="0" tIns="0" rIns="0" bIns="0" rtlCol="0" anchor="ctr"/>
          <a:lstStyle/>
          <a:p>
            <a:pPr indent="0" marL="0">
              <a:buNone/>
            </a:pPr>
            <a:r>
              <a:rPr lang="en-US" sz="4000" b="1" dirty="0">
                <a:solidFill>
                  <a:srgbClr val="0B1D3A"/>
                </a:solidFill>
                <a:latin typeface="Cambria" pitchFamily="34" charset="0"/>
                <a:ea typeface="Cambria" pitchFamily="34" charset="-122"/>
                <a:cs typeface="Cambria" pitchFamily="34" charset="-120"/>
              </a:rPr>
              <a:t>25</a:t>
            </a:r>
            <a:endParaRPr lang="en-US" sz="4000" dirty="0"/>
          </a:p>
        </p:txBody>
      </p:sp>
      <p:sp>
        <p:nvSpPr>
          <p:cNvPr id="11" name="Text 9"/>
          <p:cNvSpPr txBox="1"/>
          <p:nvPr/>
        </p:nvSpPr>
        <p:spPr>
          <a:xfrm>
            <a:off x="4809744" y="2057400"/>
            <a:ext cx="164592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references, 0 broken</a:t>
            </a:r>
            <a:endParaRPr lang="en-US" sz="1200" dirty="0"/>
          </a:p>
        </p:txBody>
      </p:sp>
      <p:sp>
        <p:nvSpPr>
          <p:cNvPr id="12" name="st3"/>
          <p:cNvSpPr/>
          <p:nvPr/>
        </p:nvSpPr>
        <p:spPr>
          <a:xfrm>
            <a:off x="6711696" y="1188720"/>
            <a:ext cx="1920240" cy="1371600"/>
          </a:xfrm>
          <a:prstGeom prst="roundRect">
            <a:avLst>
              <a:gd name="adj" fmla="val 5333"/>
            </a:avLst>
          </a:prstGeom>
          <a:solidFill>
            <a:srgbClr val="F4F6FA"/>
          </a:solidFill>
          <a:ln w="12700">
            <a:solidFill>
              <a:srgbClr val="F4F6FA"/>
            </a:solidFill>
            <a:prstDash val="solid"/>
          </a:ln>
        </p:spPr>
      </p:sp>
      <p:sp>
        <p:nvSpPr>
          <p:cNvPr id="13" name="Text 11"/>
          <p:cNvSpPr txBox="1"/>
          <p:nvPr/>
        </p:nvSpPr>
        <p:spPr>
          <a:xfrm>
            <a:off x="6894576" y="1325880"/>
            <a:ext cx="1645920" cy="73152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272</a:t>
            </a:r>
            <a:endParaRPr lang="en-US" sz="4000" dirty="0"/>
          </a:p>
        </p:txBody>
      </p:sp>
      <p:sp>
        <p:nvSpPr>
          <p:cNvPr id="14" name="Text 12"/>
          <p:cNvSpPr txBox="1"/>
          <p:nvPr/>
        </p:nvSpPr>
        <p:spPr>
          <a:xfrm>
            <a:off x="6894576" y="2057400"/>
            <a:ext cx="1645920" cy="50292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tests passing</a:t>
            </a:r>
            <a:endParaRPr lang="en-US" sz="1200" dirty="0"/>
          </a:p>
        </p:txBody>
      </p:sp>
      <p:sp>
        <p:nvSpPr>
          <p:cNvPr id="15" name="ready"/>
          <p:cNvSpPr/>
          <p:nvPr/>
        </p:nvSpPr>
        <p:spPr>
          <a:xfrm>
            <a:off x="457200" y="2788920"/>
            <a:ext cx="3931920" cy="1737360"/>
          </a:xfrm>
          <a:prstGeom prst="roundRect">
            <a:avLst>
              <a:gd name="adj" fmla="val 4211"/>
            </a:avLst>
          </a:prstGeom>
          <a:solidFill>
            <a:srgbClr val="E3F2EF"/>
          </a:solidFill>
          <a:ln w="12700">
            <a:solidFill>
              <a:srgbClr val="E3F2EF"/>
            </a:solidFill>
            <a:prstDash val="solid"/>
          </a:ln>
        </p:spPr>
      </p:sp>
      <p:sp>
        <p:nvSpPr>
          <p:cNvPr id="16" name="Text 14"/>
          <p:cNvSpPr txBox="1"/>
          <p:nvPr/>
        </p:nvSpPr>
        <p:spPr>
          <a:xfrm>
            <a:off x="685800" y="2926080"/>
            <a:ext cx="3474720" cy="274320"/>
          </a:xfrm>
          <a:prstGeom prst="rect">
            <a:avLst/>
          </a:prstGeom>
          <a:noFill/>
          <a:ln/>
        </p:spPr>
        <p:txBody>
          <a:bodyPr wrap="square" lIns="0" tIns="0" rIns="0" bIns="0" rtlCol="0" anchor="ctr"/>
          <a:lstStyle/>
          <a:p>
            <a:pPr indent="0" marL="0">
              <a:buNone/>
            </a:pPr>
            <a:r>
              <a:rPr lang="en-US" sz="1300" b="1" spc="200" kern="0" dirty="0">
                <a:solidFill>
                  <a:srgbClr val="2A9D8F"/>
                </a:solidFill>
                <a:latin typeface="Calibri" pitchFamily="34" charset="0"/>
                <a:ea typeface="Calibri" pitchFamily="34" charset="-122"/>
                <a:cs typeface="Calibri" pitchFamily="34" charset="-120"/>
              </a:rPr>
              <a:t>READY</a:t>
            </a:r>
            <a:endParaRPr lang="en-US" sz="1300" dirty="0"/>
          </a:p>
        </p:txBody>
      </p:sp>
      <p:sp>
        <p:nvSpPr>
          <p:cNvPr id="17" name="Text 15"/>
          <p:cNvSpPr txBox="1"/>
          <p:nvPr/>
        </p:nvSpPr>
        <p:spPr>
          <a:xfrm>
            <a:off x="685800" y="3246120"/>
            <a:ext cx="3474720" cy="1188720"/>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The science. Every figure and table is generated by a script; paper/ is self-contained and checksummed.</a:t>
            </a:r>
            <a:endParaRPr lang="en-US" sz="1300" dirty="0"/>
          </a:p>
        </p:txBody>
      </p:sp>
      <p:sp>
        <p:nvSpPr>
          <p:cNvPr id="18" name="notready"/>
          <p:cNvSpPr/>
          <p:nvPr/>
        </p:nvSpPr>
        <p:spPr>
          <a:xfrm>
            <a:off x="4754880" y="2788920"/>
            <a:ext cx="3931920" cy="1737360"/>
          </a:xfrm>
          <a:prstGeom prst="roundRect">
            <a:avLst>
              <a:gd name="adj" fmla="val 4211"/>
            </a:avLst>
          </a:prstGeom>
          <a:solidFill>
            <a:srgbClr val="FBEAE6"/>
          </a:solidFill>
          <a:ln w="12700">
            <a:solidFill>
              <a:srgbClr val="FBEAE6"/>
            </a:solidFill>
            <a:prstDash val="solid"/>
          </a:ln>
        </p:spPr>
      </p:sp>
      <p:sp>
        <p:nvSpPr>
          <p:cNvPr id="19" name="Text 17"/>
          <p:cNvSpPr txBox="1"/>
          <p:nvPr/>
        </p:nvSpPr>
        <p:spPr>
          <a:xfrm>
            <a:off x="4983480" y="2926080"/>
            <a:ext cx="3474720" cy="274320"/>
          </a:xfrm>
          <a:prstGeom prst="rect">
            <a:avLst/>
          </a:prstGeom>
          <a:noFill/>
          <a:ln/>
        </p:spPr>
        <p:txBody>
          <a:bodyPr wrap="square" lIns="0" tIns="0" rIns="0" bIns="0" rtlCol="0" anchor="ctr"/>
          <a:lstStyle/>
          <a:p>
            <a:pPr indent="0" marL="0">
              <a:buNone/>
            </a:pPr>
            <a:r>
              <a:rPr lang="en-US" sz="1300" b="1" spc="200" kern="0" dirty="0">
                <a:solidFill>
                  <a:srgbClr val="C8553D"/>
                </a:solidFill>
                <a:latin typeface="Calibri" pitchFamily="34" charset="0"/>
                <a:ea typeface="Calibri" pitchFamily="34" charset="-122"/>
                <a:cs typeface="Calibri" pitchFamily="34" charset="-120"/>
              </a:rPr>
              <a:t>NOT READY - 7 fields</a:t>
            </a:r>
            <a:endParaRPr lang="en-US" sz="1300" dirty="0"/>
          </a:p>
        </p:txBody>
      </p:sp>
      <p:sp>
        <p:nvSpPr>
          <p:cNvPr id="20" name="Text 18"/>
          <p:cNvSpPr txBox="1"/>
          <p:nvPr/>
        </p:nvSpPr>
        <p:spPr>
          <a:xfrm>
            <a:off x="4983480" y="3246120"/>
            <a:ext cx="3474720" cy="1188720"/>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Affiliation, email, coauthors, funding, acknowledgements, venue, DOI.</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paper/build_pdf.py --check-metadata</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I need from you</a:t>
            </a:r>
            <a:endParaRPr lang="en-US" sz="3200" dirty="0"/>
          </a:p>
        </p:txBody>
      </p:sp>
      <p:sp>
        <p:nvSpPr>
          <p:cNvPr id="3" name="Shape 1"/>
          <p:cNvSpPr/>
          <p:nvPr/>
        </p:nvSpPr>
        <p:spPr>
          <a:xfrm>
            <a:off x="548640" y="1280160"/>
            <a:ext cx="384048" cy="384048"/>
          </a:xfrm>
          <a:prstGeom prst="ellipse">
            <a:avLst/>
          </a:prstGeom>
          <a:solidFill>
            <a:srgbClr val="F2A541"/>
          </a:solidFill>
          <a:ln w="12700">
            <a:solidFill>
              <a:srgbClr val="F2A541"/>
            </a:solidFill>
            <a:prstDash val="solid"/>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43000" y="1234440"/>
            <a:ext cx="74980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Coauthorship</a:t>
            </a:r>
            <a:endParaRPr lang="en-US" sz="1700" dirty="0"/>
          </a:p>
        </p:txBody>
      </p:sp>
      <p:sp>
        <p:nvSpPr>
          <p:cNvPr id="6" name="Text 4"/>
          <p:cNvSpPr txBox="1"/>
          <p:nvPr/>
        </p:nvSpPr>
        <p:spPr>
          <a:xfrm>
            <a:off x="1143000" y="1581912"/>
            <a:ext cx="7498080" cy="502920"/>
          </a:xfrm>
          <a:prstGeom prst="rect">
            <a:avLst/>
          </a:prstGeom>
          <a:noFill/>
          <a:ln/>
        </p:spPr>
        <p:txBody>
          <a:bodyPr wrap="square" lIns="0" tIns="0" rIns="0" bIns="0" rtlCol="0" anchor="ctr"/>
          <a:lstStyle/>
          <a:p>
            <a:pPr indent="0" marL="0">
              <a:buNone/>
            </a:pPr>
            <a:r>
              <a:rPr lang="en-US" sz="1200" dirty="0">
                <a:solidFill>
                  <a:srgbClr val="AFC0D8"/>
                </a:solidFill>
                <a:latin typeface="Calibri" pitchFamily="34" charset="0"/>
                <a:ea typeface="Calibri" pitchFamily="34" charset="-122"/>
                <a:cs typeface="Calibri" pitchFamily="34" charset="-120"/>
              </a:rPr>
              <a:t>Do you want to be on the paper? Anyone else at SAC?</a:t>
            </a:r>
            <a:endParaRPr lang="en-US" sz="1200" dirty="0"/>
          </a:p>
        </p:txBody>
      </p:sp>
      <p:sp>
        <p:nvSpPr>
          <p:cNvPr id="7" name="Shape 5"/>
          <p:cNvSpPr/>
          <p:nvPr/>
        </p:nvSpPr>
        <p:spPr>
          <a:xfrm>
            <a:off x="548640" y="2194560"/>
            <a:ext cx="384048" cy="384048"/>
          </a:xfrm>
          <a:prstGeom prst="ellipse">
            <a:avLst/>
          </a:prstGeom>
          <a:solidFill>
            <a:srgbClr val="F2A541"/>
          </a:solidFill>
          <a:ln w="12700">
            <a:solidFill>
              <a:srgbClr val="F2A541"/>
            </a:solidFill>
            <a:prstDash val="solid"/>
          </a:ln>
        </p:spPr>
      </p:sp>
      <p:sp>
        <p:nvSpPr>
          <p:cNvPr id="8" name="Text 6"/>
          <p:cNvSpPr txBox="1"/>
          <p:nvPr/>
        </p:nvSpPr>
        <p:spPr>
          <a:xfrm>
            <a:off x="548640"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43000" y="2148840"/>
            <a:ext cx="74980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Seven metadata fields</a:t>
            </a:r>
            <a:endParaRPr lang="en-US" sz="1700" dirty="0"/>
          </a:p>
        </p:txBody>
      </p:sp>
      <p:sp>
        <p:nvSpPr>
          <p:cNvPr id="10" name="Text 8"/>
          <p:cNvSpPr txBox="1"/>
          <p:nvPr/>
        </p:nvSpPr>
        <p:spPr>
          <a:xfrm>
            <a:off x="1143000" y="2496312"/>
            <a:ext cx="7498080" cy="502920"/>
          </a:xfrm>
          <a:prstGeom prst="rect">
            <a:avLst/>
          </a:prstGeom>
          <a:noFill/>
          <a:ln/>
        </p:spPr>
        <p:txBody>
          <a:bodyPr wrap="square" lIns="0" tIns="0" rIns="0" bIns="0" rtlCol="0" anchor="ctr"/>
          <a:lstStyle/>
          <a:p>
            <a:pPr indent="0" marL="0">
              <a:buNone/>
            </a:pPr>
            <a:r>
              <a:rPr lang="en-US" sz="1200" dirty="0">
                <a:solidFill>
                  <a:srgbClr val="AFC0D8"/>
                </a:solidFill>
                <a:latin typeface="Calibri" pitchFamily="34" charset="0"/>
                <a:ea typeface="Calibri" pitchFamily="34" charset="-122"/>
                <a:cs typeface="Calibri" pitchFamily="34" charset="-120"/>
              </a:rPr>
              <a:t>Affiliation, email, funding, acknowledgements, interests, venue, DOI</a:t>
            </a:r>
            <a:endParaRPr lang="en-US" sz="1200" dirty="0"/>
          </a:p>
        </p:txBody>
      </p:sp>
      <p:sp>
        <p:nvSpPr>
          <p:cNvPr id="11" name="Shape 9"/>
          <p:cNvSpPr/>
          <p:nvPr/>
        </p:nvSpPr>
        <p:spPr>
          <a:xfrm>
            <a:off x="548640" y="3108960"/>
            <a:ext cx="384048" cy="384048"/>
          </a:xfrm>
          <a:prstGeom prst="ellipse">
            <a:avLst/>
          </a:prstGeom>
          <a:solidFill>
            <a:srgbClr val="F2A541"/>
          </a:solidFill>
          <a:ln w="12700">
            <a:solidFill>
              <a:srgbClr val="F2A541"/>
            </a:solidFill>
            <a:prstDash val="solid"/>
          </a:ln>
        </p:spPr>
      </p:sp>
      <p:sp>
        <p:nvSpPr>
          <p:cNvPr id="12" name="Text 10"/>
          <p:cNvSpPr txBox="1"/>
          <p:nvPr/>
        </p:nvSpPr>
        <p:spPr>
          <a:xfrm>
            <a:off x="548640" y="3108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43000" y="3063240"/>
            <a:ext cx="74980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Which story do we tell?</a:t>
            </a:r>
            <a:endParaRPr lang="en-US" sz="1700" dirty="0"/>
          </a:p>
        </p:txBody>
      </p:sp>
      <p:sp>
        <p:nvSpPr>
          <p:cNvPr id="14" name="Text 12"/>
          <p:cNvSpPr txBox="1"/>
          <p:nvPr/>
        </p:nvSpPr>
        <p:spPr>
          <a:xfrm>
            <a:off x="1143000" y="3410712"/>
            <a:ext cx="7498080" cy="502920"/>
          </a:xfrm>
          <a:prstGeom prst="rect">
            <a:avLst/>
          </a:prstGeom>
          <a:noFill/>
          <a:ln/>
        </p:spPr>
        <p:txBody>
          <a:bodyPr wrap="square" lIns="0" tIns="0" rIns="0" bIns="0" rtlCol="0" anchor="ctr"/>
          <a:lstStyle/>
          <a:p>
            <a:pPr indent="0" marL="0">
              <a:buNone/>
            </a:pPr>
            <a:r>
              <a:rPr lang="en-US" sz="1200" dirty="0">
                <a:solidFill>
                  <a:srgbClr val="AFC0D8"/>
                </a:solidFill>
                <a:latin typeface="Calibri" pitchFamily="34" charset="0"/>
                <a:ea typeface="Calibri" pitchFamily="34" charset="-122"/>
                <a:cs typeface="Calibri" pitchFamily="34" charset="-120"/>
              </a:rPr>
              <a:t>'Formulated, solved, quantum route does not currently pay' is defensible. 'Quantum optimization of THz arrays' is not.</a:t>
            </a:r>
            <a:endParaRPr lang="en-US" sz="1200" dirty="0"/>
          </a:p>
        </p:txBody>
      </p:sp>
      <p:sp>
        <p:nvSpPr>
          <p:cNvPr id="15" name="Shape 13"/>
          <p:cNvSpPr/>
          <p:nvPr/>
        </p:nvSpPr>
        <p:spPr>
          <a:xfrm>
            <a:off x="548640" y="4023360"/>
            <a:ext cx="384048" cy="384048"/>
          </a:xfrm>
          <a:prstGeom prst="ellipse">
            <a:avLst/>
          </a:prstGeom>
          <a:solidFill>
            <a:srgbClr val="F2A541"/>
          </a:solidFill>
          <a:ln w="12700">
            <a:solidFill>
              <a:srgbClr val="F2A541"/>
            </a:solidFill>
            <a:prstDash val="solid"/>
          </a:ln>
        </p:spPr>
      </p:sp>
      <p:sp>
        <p:nvSpPr>
          <p:cNvPr id="16" name="Text 14"/>
          <p:cNvSpPr txBox="1"/>
          <p:nvPr/>
        </p:nvSpPr>
        <p:spPr>
          <a:xfrm>
            <a:off x="548640" y="4023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977640"/>
            <a:ext cx="74980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should this array observe?</a:t>
            </a:r>
            <a:endParaRPr lang="en-US" sz="1700" dirty="0"/>
          </a:p>
        </p:txBody>
      </p:sp>
      <p:sp>
        <p:nvSpPr>
          <p:cNvPr id="18" name="Text 16"/>
          <p:cNvSpPr txBox="1"/>
          <p:nvPr/>
        </p:nvSpPr>
        <p:spPr>
          <a:xfrm>
            <a:off x="1143000" y="4325112"/>
            <a:ext cx="7498080" cy="502920"/>
          </a:xfrm>
          <a:prstGeom prst="rect">
            <a:avLst/>
          </a:prstGeom>
          <a:noFill/>
          <a:ln/>
        </p:spPr>
        <p:txBody>
          <a:bodyPr wrap="square" lIns="0" tIns="0" rIns="0" bIns="0" rtlCol="0" anchor="ctr"/>
          <a:lstStyle/>
          <a:p>
            <a:pPr indent="0" marL="0">
              <a:buNone/>
            </a:pPr>
            <a:r>
              <a:rPr lang="en-US" sz="1200" dirty="0">
                <a:solidFill>
                  <a:srgbClr val="AFC0D8"/>
                </a:solidFill>
                <a:latin typeface="Calibri" pitchFamily="34" charset="0"/>
                <a:ea typeface="Calibri" pitchFamily="34" charset="-122"/>
                <a:cs typeface="Calibri" pitchFamily="34" charset="-120"/>
              </a:rPr>
              <a:t>The one input I could not derive. Everything downstream follows from it.</a:t>
            </a:r>
            <a:endParaRPr lang="en-US" sz="1200" dirty="0"/>
          </a:p>
        </p:txBody>
      </p:sp>
      <p:sp>
        <p:nvSpPr>
          <p:cNvPr id="20" name="Text 0"/>
          <p:cNvSpPr/>
          <p:nvPr>
            <p:ph idx="100" type="title" hasCustomPrompt="1"/>
          </p:nvPr>
        </p:nvSpPr>
        <p:spPr>
          <a:xfrm>
            <a:off x="548640" y="1463040"/>
            <a:ext cx="8046720" cy="1280160"/>
          </a:xfrm>
          <a:prstGeom prst="rect">
            <a:avLst/>
          </a:prstGeom>
          <a:noFill/>
          <a:ln/>
        </p:spPr>
        <p:txBody>
          <a:bodyPr wrap="square" rtlCol="0" anchor="t"/>
          <a:lstStyle/>
          <a:p>
            <a:pPr indent="0" marL="0">
              <a:buNone/>
            </a:pPr>
            <a:endParaRPr 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Backup: glossary</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3840480"/>
                <a:gridCol w="26517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Plain meaning</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Our value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D3A"/>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Lambda (wavelength)</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Size of the radio wave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1.3 mm at 230 GHz; 1 mm at 300 GHz</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Distance between two antennas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32-2,788 m (Ladakh); up to 16,195 m (ALMA)</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N / M</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Antennas placed / candidate spots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e.g. 16 of 544</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Finest detail = lambda / longest baseline (smaller better)</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0.096"</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Largest scale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Biggest structure = 0.6 lambda / shortest baseline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5.01"</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Primary beam</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Field of view of one dish ~ 1.13 lambda / D</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38" (8 m at 230 GHz)</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Sidelobe</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False ghost near a real source (lower better)</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0.08-0.10</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4F6FA"/>
                    </a:solidFill>
                  </a:tcPr>
                </a:tc>
              </a:tr>
              <a:tr h="36576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Shadowing</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Minimum separation = 1.5 x dish</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12 m for 8 m dishes</a:t>
                      </a:r>
                      <a:endParaRPr lang="en-US" sz="1100" dirty="0">
                        <a:latin typeface="Calibri" charset="0"/>
                        <a:ea typeface="Calibri" charset="0"/>
                        <a:cs typeface="Calibri" charset="0"/>
                      </a:endParaRPr>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Backup: what is deliberately not claimed</a:t>
            </a:r>
            <a:endParaRPr lang="en-US" sz="2800" dirty="0"/>
          </a:p>
        </p:txBody>
      </p:sp>
      <p:sp>
        <p:nvSpPr>
          <p:cNvPr id="3" name="Shape 1"/>
          <p:cNvSpPr/>
          <p:nvPr/>
        </p:nvSpPr>
        <p:spPr>
          <a:xfrm>
            <a:off x="457200" y="1188720"/>
            <a:ext cx="384048" cy="384048"/>
          </a:xfrm>
          <a:prstGeom prst="ellipse">
            <a:avLst/>
          </a:prstGeom>
          <a:solidFill>
            <a:srgbClr val="5B6B82"/>
          </a:solidFill>
          <a:ln w="12700">
            <a:solidFill>
              <a:srgbClr val="5B6B82"/>
            </a:solidFill>
            <a:prstDash val="solid"/>
          </a:ln>
        </p:spPr>
      </p:sp>
      <p:sp>
        <p:nvSpPr>
          <p:cNvPr id="4" name="Text 2"/>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05840" y="1143000"/>
            <a:ext cx="7680960" cy="292608"/>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No quantum hardware</a:t>
            </a:r>
            <a:endParaRPr lang="en-US" sz="1400" dirty="0"/>
          </a:p>
        </p:txBody>
      </p:sp>
      <p:sp>
        <p:nvSpPr>
          <p:cNvPr id="6" name="Text 4"/>
          <p:cNvSpPr txBox="1"/>
          <p:nvPr/>
        </p:nvSpPr>
        <p:spPr>
          <a:xfrm>
            <a:off x="1005840" y="1435608"/>
            <a:ext cx="7680960" cy="292608"/>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QUBO ran on a classical annealer behind the hardware interface</a:t>
            </a:r>
            <a:endParaRPr lang="en-US" sz="1200" dirty="0"/>
          </a:p>
        </p:txBody>
      </p:sp>
      <p:sp>
        <p:nvSpPr>
          <p:cNvPr id="7" name="Shape 5"/>
          <p:cNvSpPr/>
          <p:nvPr/>
        </p:nvSpPr>
        <p:spPr>
          <a:xfrm>
            <a:off x="457200" y="1874520"/>
            <a:ext cx="384048" cy="384048"/>
          </a:xfrm>
          <a:prstGeom prst="ellipse">
            <a:avLst/>
          </a:prstGeom>
          <a:solidFill>
            <a:srgbClr val="5B6B82"/>
          </a:solidFill>
          <a:ln w="12700">
            <a:solidFill>
              <a:srgbClr val="5B6B82"/>
            </a:solidFill>
            <a:prstDash val="solid"/>
          </a:ln>
        </p:spPr>
      </p:sp>
      <p:sp>
        <p:nvSpPr>
          <p:cNvPr id="8" name="Text 6"/>
          <p:cNvSpPr txBox="1"/>
          <p:nvPr/>
        </p:nvSpPr>
        <p:spPr>
          <a:xfrm>
            <a:off x="45720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05840" y="1828800"/>
            <a:ext cx="7680960" cy="292608"/>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No real visibility data</a:t>
            </a:r>
            <a:endParaRPr lang="en-US" sz="1400" dirty="0"/>
          </a:p>
        </p:txBody>
      </p:sp>
      <p:sp>
        <p:nvSpPr>
          <p:cNvPr id="10" name="Text 8"/>
          <p:cNvSpPr txBox="1"/>
          <p:nvPr/>
        </p:nvSpPr>
        <p:spPr>
          <a:xfrm>
            <a:off x="1005840" y="2121408"/>
            <a:ext cx="7680960" cy="292608"/>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Imaging is simulated - correctly, but simulated</a:t>
            </a:r>
            <a:endParaRPr lang="en-US" sz="1200" dirty="0"/>
          </a:p>
        </p:txBody>
      </p:sp>
      <p:sp>
        <p:nvSpPr>
          <p:cNvPr id="11" name="Shape 9"/>
          <p:cNvSpPr/>
          <p:nvPr/>
        </p:nvSpPr>
        <p:spPr>
          <a:xfrm>
            <a:off x="457200" y="2560320"/>
            <a:ext cx="384048" cy="384048"/>
          </a:xfrm>
          <a:prstGeom prst="ellipse">
            <a:avLst/>
          </a:prstGeom>
          <a:solidFill>
            <a:srgbClr val="5B6B82"/>
          </a:solidFill>
          <a:ln w="12700">
            <a:solidFill>
              <a:srgbClr val="5B6B82"/>
            </a:solidFill>
            <a:prstDash val="solid"/>
          </a:ln>
        </p:spPr>
      </p:sp>
      <p:sp>
        <p:nvSpPr>
          <p:cNvPr id="12" name="Text 10"/>
          <p:cNvSpPr txBox="1"/>
          <p:nvPr/>
        </p:nvSpPr>
        <p:spPr>
          <a:xfrm>
            <a:off x="45720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05840" y="2514600"/>
            <a:ext cx="7680960" cy="292608"/>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Synthetic pads in Sections 4.1-4.6</a:t>
            </a:r>
            <a:endParaRPr lang="en-US" sz="1400" dirty="0"/>
          </a:p>
        </p:txBody>
      </p:sp>
      <p:sp>
        <p:nvSpPr>
          <p:cNvPr id="14" name="Text 12"/>
          <p:cNvSpPr txBox="1"/>
          <p:nvPr/>
        </p:nvSpPr>
        <p:spPr>
          <a:xfrm>
            <a:off x="1005840" y="2807208"/>
            <a:ext cx="7680960" cy="292608"/>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By design, so N and extent stay fixed across comparisons</a:t>
            </a:r>
            <a:endParaRPr lang="en-US" sz="1200" dirty="0"/>
          </a:p>
        </p:txBody>
      </p:sp>
      <p:sp>
        <p:nvSpPr>
          <p:cNvPr id="15" name="Shape 13"/>
          <p:cNvSpPr/>
          <p:nvPr/>
        </p:nvSpPr>
        <p:spPr>
          <a:xfrm>
            <a:off x="457200" y="3246120"/>
            <a:ext cx="384048" cy="384048"/>
          </a:xfrm>
          <a:prstGeom prst="ellipse">
            <a:avLst/>
          </a:prstGeom>
          <a:solidFill>
            <a:srgbClr val="5B6B82"/>
          </a:solidFill>
          <a:ln w="12700">
            <a:solidFill>
              <a:srgbClr val="5B6B82"/>
            </a:solidFill>
            <a:prstDash val="solid"/>
          </a:ln>
        </p:spPr>
      </p:sp>
      <p:sp>
        <p:nvSpPr>
          <p:cNvPr id="16" name="Text 14"/>
          <p:cNvSpPr txBox="1"/>
          <p:nvPr/>
        </p:nvSpPr>
        <p:spPr>
          <a:xfrm>
            <a:off x="457200"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005840" y="3200400"/>
            <a:ext cx="7680960" cy="292608"/>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No Ladakh phase measurement</a:t>
            </a:r>
            <a:endParaRPr lang="en-US" sz="1400" dirty="0"/>
          </a:p>
        </p:txBody>
      </p:sp>
      <p:sp>
        <p:nvSpPr>
          <p:cNvPr id="18" name="Text 16"/>
          <p:cNvSpPr txBox="1"/>
          <p:nvPr/>
        </p:nvSpPr>
        <p:spPr>
          <a:xfrm>
            <a:off x="1005840" y="3493008"/>
            <a:ext cx="7680960" cy="292608"/>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Needs an interferometer on site for years; ALMA values transferred and labelled a model</a:t>
            </a:r>
            <a:endParaRPr lang="en-US" sz="1200" dirty="0"/>
          </a:p>
        </p:txBody>
      </p:sp>
      <p:sp>
        <p:nvSpPr>
          <p:cNvPr id="19" name="Shape 17"/>
          <p:cNvSpPr/>
          <p:nvPr/>
        </p:nvSpPr>
        <p:spPr>
          <a:xfrm>
            <a:off x="457200" y="3931920"/>
            <a:ext cx="384048" cy="384048"/>
          </a:xfrm>
          <a:prstGeom prst="ellipse">
            <a:avLst/>
          </a:prstGeom>
          <a:solidFill>
            <a:srgbClr val="5B6B82"/>
          </a:solidFill>
          <a:ln w="12700">
            <a:solidFill>
              <a:srgbClr val="5B6B82"/>
            </a:solidFill>
            <a:prstDash val="solid"/>
          </a:ln>
        </p:spPr>
      </p:sp>
      <p:sp>
        <p:nvSpPr>
          <p:cNvPr id="20" name="Text 18"/>
          <p:cNvSpPr txBox="1"/>
          <p:nvPr/>
        </p:nvSpPr>
        <p:spPr>
          <a:xfrm>
            <a:off x="45720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1005840" y="3886200"/>
            <a:ext cx="7680960" cy="292608"/>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Terrain only for Ladakh</a:t>
            </a:r>
            <a:endParaRPr lang="en-US" sz="1400" dirty="0"/>
          </a:p>
        </p:txBody>
      </p:sp>
      <p:sp>
        <p:nvSpPr>
          <p:cNvPr id="22" name="Text 20"/>
          <p:cNvSpPr txBox="1"/>
          <p:nvPr/>
        </p:nvSpPr>
        <p:spPr>
          <a:xfrm>
            <a:off x="1005840" y="4178808"/>
            <a:ext cx="7680960" cy="292608"/>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No land rights, roads, power or geotechnics</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THz QUBO Array Design - Progress Report</dc:title>
  <dc:subject>PptxGenJS Presentation</dc:subject>
  <dc:creator>Manasa Vamsi</dc:creator>
  <cp:lastModifiedBy>Manasa Vamsi</cp:lastModifiedBy>
  <cp:revision>1</cp:revision>
  <dcterms:created xsi:type="dcterms:W3CDTF">2026-10-02T05:05:37Z</dcterms:created>
  <dcterms:modified xsi:type="dcterms:W3CDTF">2026-10-02T05:05:37Z</dcterms:modified>
</cp:coreProperties>
</file>