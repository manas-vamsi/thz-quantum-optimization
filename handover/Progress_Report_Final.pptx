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c84be1-b01e-1081-d890-cf8bfdef29a1}">
          <p14:sldIdLst>
            <p14:sldId id="256"/>
            <p14:sldId id="257"/>
          </p14:sldIdLst>
        </p14:section>
        <p14:section name="Background" id="{f1ac7b89-e40d-1244-5f71-a54c4569e57c}">
          <p14:sldIdLst>
            <p14:sldId id="258"/>
            <p14:sldId id="259"/>
            <p14:sldId id="260"/>
          </p14:sldIdLst>
        </p14:section>
        <p14:section name="Method" id="{0aae29b7-aff7-e273-e900-03a655c264b8}">
          <p14:sldIdLst>
            <p14:sldId id="261"/>
            <p14:sldId id="262"/>
          </p14:sldIdLst>
        </p14:section>
        <p14:section name="Results" id="{be1547e6-2f27-0b69-960d-c05269776da8}">
          <p14:sldIdLst>
            <p14:sldId id="263"/>
            <p14:sldId id="264"/>
            <p14:sldId id="265"/>
            <p14:sldId id="266"/>
            <p14:sldId id="267"/>
          </p14:sldIdLst>
        </p14:section>
        <p14:section name="Summary" id="{af1aedd8-8b5c-21aa-dfa3-d98752c5f24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% of the best possible answer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QUBO solver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pads</c:v>
                  </c:pt>
                  <c:pt idx="1">
                    <c:v>24 pads</c:v>
                  </c:pt>
                  <c:pt idx="2">
                    <c:v>40 pads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</c:v>
                </c:pt>
                <c:pt idx="1">
                  <c:v>92</c:v>
                </c:pt>
                <c:pt idx="2">
                  <c:v>85.9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search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pads</c:v>
                  </c:pt>
                  <c:pt idx="1">
                    <c:v>24 pads</c:v>
                  </c:pt>
                  <c:pt idx="2">
                    <c:v>40 pads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97.7</c:v>
                </c:pt>
                <c:pt idx="1">
                  <c:v>98.8</c:v>
                </c:pt>
                <c:pt idx="2">
                  <c:v>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Share of effect on picture quality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D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Both together</c:v>
                  </c:pt>
                  <c:pt idx="1">
                    <c:v>Angle (golden ratio)</c:v>
                  </c:pt>
                  <c:pt idx="2">
                    <c:v>Distance from centre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11.2</c:v>
                </c:pt>
                <c:pt idx="2">
                  <c:v>84.6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% of time air is dry enough (PWV &lt; 1 mm)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1D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Hanle</c:v>
                  </c:pt>
                  <c:pt idx="1">
                    <c:v>Merak</c:v>
                  </c:pt>
                  <c:pt idx="2">
                    <c:v>Ladakh site B</c:v>
                  </c:pt>
                  <c:pt idx="3">
                    <c:v>Ladakh site A</c:v>
                  </c:pt>
                  <c:pt idx="4">
                    <c:v>ALMA (Chile)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19</c:v>
                </c:pt>
                <c:pt idx="3">
                  <c:v>23</c:v>
                </c:pt>
                <c:pt idx="4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objective, method, results, and the strength and limitation of each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QUBO means every choice is 0 or 1. Here: 1 = antenna on this pad, 0 = empty. Quantum annealers only accept this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lambda = 3e8 / 230e9 = 1.3 mm. Resolution = 1.3 mm / 2788 m = 0.096 arcsec. 1 arcsec = 1/3600 degree. Note: lambda is also the name of the penalty weights in the QUBO - ask which one is meant.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ghost images are expensive to compute and not quadratic. UV overlap is simple counting and quadratic, so it fits a QUBO. Parseval proves the two are the same, so we can optimise the easy one. This also proves the guide's Section 4 claim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Formula: E(x) = sum Q_ii x_i + sum Q_ij x_i x_j. Full objective H = H_select + H_shadow + H_uv + H_phase. H_select = lambda_s (sum x - N)^2 forces N antennas. Rosenberg penalty = lambda_R (x_i x_j - 2 x_i y - 2 x_j y + 3y). Penalty weights are calculated, not guessed.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data is invented. Each input is checked against a published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has automated tests - 272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Classical: under 0.4 s at 98%. QUBO: 3-35 s at 86-92%. Quantum is not faster on this problem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5 distance rules x 5 angle rules = 25 layouts, all else fixed. Method: ANOVA (separates which factor causes the difference).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Raghunath et al. 2026, 184 months of weather data. PWV = water in the air; water absorbs these radio waves. Suggested wording: good infrastructure, less dry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layouts because one layout cannot give both sharp detail and big-scale view. ALMA also moves antennas between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sky model, visibilities, noise, CLEAN, compare. Shape correlation = 1.000. Brightness correlation for big blurry sources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Paper: 13 pages. 272 tests pass. All code and results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github.com/manas-vamsi/thz-quantum-optimization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QUBO-Based Design of a Terahertz Telescope Array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 Vamsi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github.com/manas-vamsi/thz-quantum-optimization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antenna-placement problem as a QUBO, so it can be solved on a quantum computer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 - completed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error in the formula - corrected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- 272 tests pass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telescope data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array design for Ladakh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and Formulas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Wavelength (lambda)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radio 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= c / 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mm at 230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between 2 antennas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N(N-1)/2 baselines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antennas = 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detail 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/ longest baseline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 arcsec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object 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 lambda / shortest baseline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arcsec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picture 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(u,v) = baseline / lambda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 quantum computer accepts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= sum Q_ij x_i x_j, x = 0 or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baselines give sharp detail.  Short baselines show big objects.  A good array needs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Parseval's Theorem and How We Used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is the same in space and in frequency.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sum|image|^2 = sum|UV|^2 / 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UV plane are a Fourier pair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ghost-image energy = UV overlap count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UV overlap = reduce ghost images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overlap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n^2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130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Parseval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3044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images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sidelobe energy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8862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886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computer: ratio = 1.000000000000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to the QUBO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4480" y="12344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needs 4 antennas. Q_ij holds only 2. It does not fit.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(Rosenberg method)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0/1 switch per antenna pair:  y = x_i * x_j.  Now it fits.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17830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is now correct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quantum software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6118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more variables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15,000 for 174 pads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(All Real and Verified)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52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pads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52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real ALMA pads, Chile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56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 real ALMA observations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59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vapour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459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measurements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Ladakh land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height maps (SRTM)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667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666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Tau, a real young star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1188720"/>
            <a:ext cx="2286000" cy="2926080"/>
          </a:xfrm>
          <a:prstGeom prst="roundRect">
            <a:avLst>
              <a:gd name="adj" fmla="val 32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1691640"/>
            <a:ext cx="192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 size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16,195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~16 km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Hanle height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4,491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4,500 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QUBO formula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56232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6232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search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5264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00984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proven best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54296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QUBO solver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53328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 images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Ladakh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code: greedy, swap and annealing methods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best: exact solver (MILP) - the answer key to compare against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solver: D-Wave software on a normal computer (not quantum hardware)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images: check if our score gives good pictures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1: QUBO Solver vs Classical Search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 is correct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2,324 options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is more accurate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is 35-72x faster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2: What Makes a Good Antenna Layout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design rule found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antennas evenly by area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ratio helps only ~2.5%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differs for ghost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3: Site Assessment - Hanle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power, observatory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land (15 m)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only 5% vs ALMA 50%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 ALMA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4: First Array Design for Ladakh</a:t>
            </a:r>
            <a:endParaRPr lang="en-US" sz="2800" dirty="0"/>
          </a:p>
        </p:txBody>
      </p:sp>
      <p:pic>
        <p:nvPicPr>
          <p:cNvPr id="3" name="Image 0" descr="D:\thz-quantum-optimization\ladakh_array_design\outputs\fig_hanle_extended_ter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72000" cy="19749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land height.  Right: buildable land and chosen antenna spots.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antennas, 8 m dishes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layouts: small, medium, large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from 0.096 to 5 arcsec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 of each antenna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land data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design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land, road or power survey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5: Image Quality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Best-score array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captured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43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spiral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645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captured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real test pictures from 4 sky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each picture with the true sky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score predicts shape perfectly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whole method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brightness of big objects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short baselines too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Correct, fixed one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variables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solver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Works, all answers valid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than classical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rule: spread by 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ratio adds little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Hanle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Roads, power, flat 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only 5% of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Ladakh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antenna 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survey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predicted perfectly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not predicted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THz Array Design with QUBO - Progress Report</dc:title>
  <dc:subject>PptxGenJS Presentation</dc:subject>
  <dc:creator>Manasa Vamsi</dc:creator>
  <cp:lastModifiedBy>Manasa Vamsi</cp:lastModifiedBy>
  <cp:revision>1</cp:revision>
  <dcterms:created xsi:type="dcterms:W3CDTF">2026-10-02T11:38:35Z</dcterms:created>
  <dcterms:modified xsi:type="dcterms:W3CDTF">2026-10-02T11:38:35Z</dcterms:modified>
</cp:coreProperties>
</file>